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9"/>
  </p:notesMasterIdLst>
  <p:sldIdLst>
    <p:sldId id="256" r:id="rId5"/>
    <p:sldId id="257" r:id="rId6"/>
    <p:sldId id="261" r:id="rId7"/>
    <p:sldId id="277" r:id="rId8"/>
    <p:sldId id="262" r:id="rId9"/>
    <p:sldId id="263" r:id="rId10"/>
    <p:sldId id="266" r:id="rId11"/>
    <p:sldId id="267" r:id="rId12"/>
    <p:sldId id="273" r:id="rId13"/>
    <p:sldId id="270" r:id="rId14"/>
    <p:sldId id="269" r:id="rId15"/>
    <p:sldId id="271" r:id="rId16"/>
    <p:sldId id="275" r:id="rId17"/>
    <p:sldId id="260" r:id="rId18"/>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9737"/>
    <a:srgbClr val="965D10"/>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3DF0F0-8420-41AF-897D-6A0C62AD4380}" v="1" dt="2026-09-09T15:26:29.4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10" d="100"/>
          <a:sy n="210" d="100"/>
        </p:scale>
        <p:origin x="-4408" y="-47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yer, Jamee M Capt USAF USAFA AW/ESAS" userId="149f54e3-d5e6-4746-85bc-cd1b24504573" providerId="ADAL" clId="{5ED09819-E15C-4BF9-8D5B-332C5221AC72}"/>
    <pc:docChg chg="undo custSel modSld modMainMaster">
      <pc:chgData name="Boyer, Jamee M Capt USAF USAFA AW/ESAS" userId="149f54e3-d5e6-4746-85bc-cd1b24504573" providerId="ADAL" clId="{5ED09819-E15C-4BF9-8D5B-332C5221AC72}" dt="2026-09-09T16:13:56.248" v="42" actId="1076"/>
      <pc:docMkLst>
        <pc:docMk/>
      </pc:docMkLst>
      <pc:sldChg chg="modSp mod">
        <pc:chgData name="Boyer, Jamee M Capt USAF USAFA AW/ESAS" userId="149f54e3-d5e6-4746-85bc-cd1b24504573" providerId="ADAL" clId="{5ED09819-E15C-4BF9-8D5B-332C5221AC72}" dt="2026-09-09T15:25:54.368" v="5" actId="6549"/>
        <pc:sldMkLst>
          <pc:docMk/>
          <pc:sldMk cId="2953783623" sldId="257"/>
        </pc:sldMkLst>
        <pc:spChg chg="mod">
          <ac:chgData name="Boyer, Jamee M Capt USAF USAFA AW/ESAS" userId="149f54e3-d5e6-4746-85bc-cd1b24504573" providerId="ADAL" clId="{5ED09819-E15C-4BF9-8D5B-332C5221AC72}" dt="2026-09-09T15:25:54.368" v="5" actId="6549"/>
          <ac:spMkLst>
            <pc:docMk/>
            <pc:sldMk cId="2953783623" sldId="257"/>
            <ac:spMk id="9" creationId="{E546E108-D457-079D-8852-3F767CBBA251}"/>
          </ac:spMkLst>
        </pc:spChg>
      </pc:sldChg>
      <pc:sldChg chg="modSp mod">
        <pc:chgData name="Boyer, Jamee M Capt USAF USAFA AW/ESAS" userId="149f54e3-d5e6-4746-85bc-cd1b24504573" providerId="ADAL" clId="{5ED09819-E15C-4BF9-8D5B-332C5221AC72}" dt="2026-09-09T15:49:37.482" v="40" actId="13926"/>
        <pc:sldMkLst>
          <pc:docMk/>
          <pc:sldMk cId="3857570709" sldId="267"/>
        </pc:sldMkLst>
        <pc:spChg chg="mod">
          <ac:chgData name="Boyer, Jamee M Capt USAF USAFA AW/ESAS" userId="149f54e3-d5e6-4746-85bc-cd1b24504573" providerId="ADAL" clId="{5ED09819-E15C-4BF9-8D5B-332C5221AC72}" dt="2026-09-09T15:49:37.482" v="40" actId="13926"/>
          <ac:spMkLst>
            <pc:docMk/>
            <pc:sldMk cId="3857570709" sldId="267"/>
            <ac:spMk id="3" creationId="{DE1D8E7A-C28C-4C93-7C30-56210D540500}"/>
          </ac:spMkLst>
        </pc:spChg>
      </pc:sldChg>
      <pc:sldChg chg="modSp mod">
        <pc:chgData name="Boyer, Jamee M Capt USAF USAFA AW/ESAS" userId="149f54e3-d5e6-4746-85bc-cd1b24504573" providerId="ADAL" clId="{5ED09819-E15C-4BF9-8D5B-332C5221AC72}" dt="2026-09-09T16:13:56.248" v="42" actId="1076"/>
        <pc:sldMkLst>
          <pc:docMk/>
          <pc:sldMk cId="3293587541" sldId="270"/>
        </pc:sldMkLst>
        <pc:picChg chg="mod">
          <ac:chgData name="Boyer, Jamee M Capt USAF USAFA AW/ESAS" userId="149f54e3-d5e6-4746-85bc-cd1b24504573" providerId="ADAL" clId="{5ED09819-E15C-4BF9-8D5B-332C5221AC72}" dt="2026-09-09T16:13:56.248" v="42" actId="1076"/>
          <ac:picMkLst>
            <pc:docMk/>
            <pc:sldMk cId="3293587541" sldId="270"/>
            <ac:picMk id="9" creationId="{FA0CFB8E-367C-AD4E-0606-157F823E5D2D}"/>
          </ac:picMkLst>
        </pc:picChg>
      </pc:sldChg>
      <pc:sldMasterChg chg="modSp mod modSldLayout">
        <pc:chgData name="Boyer, Jamee M Capt USAF USAFA AW/ESAS" userId="149f54e3-d5e6-4746-85bc-cd1b24504573" providerId="ADAL" clId="{5ED09819-E15C-4BF9-8D5B-332C5221AC72}" dt="2026-09-09T15:26:42.923" v="26" actId="20577"/>
        <pc:sldMasterMkLst>
          <pc:docMk/>
          <pc:sldMasterMk cId="85601226" sldId="2147483660"/>
        </pc:sldMasterMkLst>
        <pc:spChg chg="mod">
          <ac:chgData name="Boyer, Jamee M Capt USAF USAFA AW/ESAS" userId="149f54e3-d5e6-4746-85bc-cd1b24504573" providerId="ADAL" clId="{5ED09819-E15C-4BF9-8D5B-332C5221AC72}" dt="2026-09-09T15:26:42.923" v="26" actId="20577"/>
          <ac:spMkLst>
            <pc:docMk/>
            <pc:sldMasterMk cId="85601226" sldId="2147483660"/>
            <ac:spMk id="8" creationId="{1B2918AF-A31D-A49D-520C-D6A347912BFA}"/>
          </ac:spMkLst>
        </pc:spChg>
        <pc:sldLayoutChg chg="addSp delSp modSp mod">
          <pc:chgData name="Boyer, Jamee M Capt USAF USAFA AW/ESAS" userId="149f54e3-d5e6-4746-85bc-cd1b24504573" providerId="ADAL" clId="{5ED09819-E15C-4BF9-8D5B-332C5221AC72}" dt="2026-09-09T15:26:32.393" v="8"/>
          <pc:sldLayoutMkLst>
            <pc:docMk/>
            <pc:sldMasterMk cId="85601226" sldId="2147483660"/>
            <pc:sldLayoutMk cId="652688712" sldId="2147483661"/>
          </pc:sldLayoutMkLst>
          <pc:spChg chg="add del mod">
            <ac:chgData name="Boyer, Jamee M Capt USAF USAFA AW/ESAS" userId="149f54e3-d5e6-4746-85bc-cd1b24504573" providerId="ADAL" clId="{5ED09819-E15C-4BF9-8D5B-332C5221AC72}" dt="2026-09-09T15:26:32.393" v="8"/>
            <ac:spMkLst>
              <pc:docMk/>
              <pc:sldMasterMk cId="85601226" sldId="2147483660"/>
              <pc:sldLayoutMk cId="652688712" sldId="2147483661"/>
              <ac:spMk id="9" creationId="{0D176E56-0C4D-0336-FCC7-15FEF16947F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9/9/2026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a:t>
            </a:fld>
            <a:endParaRPr lang="en-US"/>
          </a:p>
        </p:txBody>
      </p:sp>
    </p:spTree>
    <p:extLst>
      <p:ext uri="{BB962C8B-B14F-4D97-AF65-F5344CB8AC3E}">
        <p14:creationId xmlns:p14="http://schemas.microsoft.com/office/powerpoint/2010/main" val="1049568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14</a:t>
            </a:fld>
            <a:endParaRPr lang="en-US"/>
          </a:p>
        </p:txBody>
      </p:sp>
    </p:spTree>
    <p:extLst>
      <p:ext uri="{BB962C8B-B14F-4D97-AF65-F5344CB8AC3E}">
        <p14:creationId xmlns:p14="http://schemas.microsoft.com/office/powerpoint/2010/main" val="4268724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5350" y="1144002"/>
            <a:ext cx="678899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1EE600E-A67F-4D2A-8A36-552C1EFBE963}" type="datetime1">
              <a:rPr lang="en-US" smtClean="0"/>
              <a:t>9/9/2026</a:t>
            </a:fld>
            <a:endParaRPr lang="en-US"/>
          </a:p>
        </p:txBody>
      </p:sp>
      <p:sp>
        <p:nvSpPr>
          <p:cNvPr id="5" name="Footer Placeholder 4"/>
          <p:cNvSpPr>
            <a:spLocks noGrp="1"/>
          </p:cNvSpPr>
          <p:nvPr>
            <p:ph type="ftr" sz="quarter" idx="11"/>
          </p:nvPr>
        </p:nvSpPr>
        <p:spPr/>
        <p:txBody>
          <a:bodyPr/>
          <a:lstStyle/>
          <a:p>
            <a:r>
              <a:rPr lang="en-US"/>
              <a:t>Astro 331 Lab #2</a:t>
            </a:r>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r>
              <a:rPr lang="en-US" sz="440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9D194C-E731-4CF3-8F14-16F2CEB9B5CF}" type="datetime1">
              <a:rPr lang="en-US" smtClean="0"/>
              <a:t>9/9/2026</a:t>
            </a:fld>
            <a:endParaRPr lang="en-US"/>
          </a:p>
        </p:txBody>
      </p:sp>
      <p:sp>
        <p:nvSpPr>
          <p:cNvPr id="5" name="Footer Placeholder 4"/>
          <p:cNvSpPr>
            <a:spLocks noGrp="1"/>
          </p:cNvSpPr>
          <p:nvPr>
            <p:ph type="ftr" sz="quarter" idx="11"/>
          </p:nvPr>
        </p:nvSpPr>
        <p:spPr/>
        <p:txBody>
          <a:bodyPr/>
          <a:lstStyle/>
          <a:p>
            <a:r>
              <a:rPr lang="en-US"/>
              <a:t>Astro 331 Lab #5</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9/9/2026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CEF287-72CA-49D4-A601-3B9D2E83EA05}" type="datetime1">
              <a:rPr lang="en-US" smtClean="0"/>
              <a:t>9/9/2026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92B2832-1105-4FA1-AD49-3D1761459FB9}" type="datetime1">
              <a:rPr lang="en-US" smtClean="0"/>
              <a:t>9/9/2026</a:t>
            </a:fld>
            <a:endParaRPr lang="en-US"/>
          </a:p>
        </p:txBody>
      </p:sp>
      <p:sp>
        <p:nvSpPr>
          <p:cNvPr id="8" name="Footer Placeholder 7"/>
          <p:cNvSpPr>
            <a:spLocks noGrp="1"/>
          </p:cNvSpPr>
          <p:nvPr>
            <p:ph type="ftr" sz="quarter" idx="11"/>
          </p:nvPr>
        </p:nvSpPr>
        <p:spPr/>
        <p:txBody>
          <a:bodyPr/>
          <a:lstStyle/>
          <a:p>
            <a:r>
              <a:rPr lang="en-US"/>
              <a:t>Astro 331 Lab #1</a:t>
            </a:r>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08DF9A-2345-4D36-85FA-49730D271487}" type="datetime1">
              <a:rPr lang="en-US" smtClean="0"/>
              <a:t>9/9/2026</a:t>
            </a:fld>
            <a:endParaRPr lang="en-US"/>
          </a:p>
        </p:txBody>
      </p:sp>
      <p:sp>
        <p:nvSpPr>
          <p:cNvPr id="4" name="Footer Placeholder 3"/>
          <p:cNvSpPr>
            <a:spLocks noGrp="1"/>
          </p:cNvSpPr>
          <p:nvPr>
            <p:ph type="ftr" sz="quarter" idx="11"/>
          </p:nvPr>
        </p:nvSpPr>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9/9/2026</a:t>
            </a:fld>
            <a:endParaRPr lang="en-US"/>
          </a:p>
        </p:txBody>
      </p:sp>
      <p:sp>
        <p:nvSpPr>
          <p:cNvPr id="3" name="Footer Placeholder 2"/>
          <p:cNvSpPr>
            <a:spLocks noGrp="1"/>
          </p:cNvSpPr>
          <p:nvPr>
            <p:ph type="ftr" sz="quarter" idx="11"/>
          </p:nvPr>
        </p:nvSpPr>
        <p:spPr/>
        <p:txBody>
          <a:bodyPr/>
          <a:lstStyle/>
          <a:p>
            <a:r>
              <a:rPr lang="en-US"/>
              <a:t>Astro 331 Lab #1</a:t>
            </a:r>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9/9/2026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9/9/2026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B0F733-755F-4A68-A044-3BB7487EA333}" type="datetime1">
              <a:rPr lang="en-US" smtClean="0"/>
              <a:t>9/9/2026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E81D12-59AE-465C-A617-7D2534E388B9}" type="datetime1">
              <a:rPr lang="en-US" smtClean="0"/>
              <a:t>9/9/2026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6991" y="136523"/>
            <a:ext cx="7886700" cy="65219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06340" y="1002507"/>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0634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9/9/2026</a:t>
            </a:fld>
            <a:endParaRPr lang="en-US"/>
          </a:p>
        </p:txBody>
      </p:sp>
      <p:sp>
        <p:nvSpPr>
          <p:cNvPr id="5" name="Footer Placeholder 4"/>
          <p:cNvSpPr>
            <a:spLocks noGrp="1"/>
          </p:cNvSpPr>
          <p:nvPr>
            <p:ph type="ftr" sz="quarter" idx="3"/>
          </p:nvPr>
        </p:nvSpPr>
        <p:spPr>
          <a:xfrm>
            <a:off x="3028950" y="6501692"/>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Astro 331 Lab #5</a:t>
            </a:r>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7" name="Rectangle 6">
            <a:extLst>
              <a:ext uri="{FF2B5EF4-FFF2-40B4-BE49-F238E27FC236}">
                <a16:creationId xmlns:a16="http://schemas.microsoft.com/office/drawing/2014/main" id="{77E8A6C5-C92C-8448-0311-8A5C323071D8}"/>
              </a:ext>
            </a:extLst>
          </p:cNvPr>
          <p:cNvSpPr/>
          <p:nvPr userDrawn="1"/>
        </p:nvSpPr>
        <p:spPr>
          <a:xfrm>
            <a:off x="0" y="0"/>
            <a:ext cx="1028700" cy="685800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7794594" y="72097"/>
            <a:ext cx="1291179" cy="307777"/>
          </a:xfrm>
          <a:prstGeom prst="rect">
            <a:avLst/>
          </a:prstGeom>
          <a:noFill/>
        </p:spPr>
        <p:txBody>
          <a:bodyPr wrap="square" rtlCol="0">
            <a:spAutoFit/>
          </a:bodyPr>
          <a:lstStyle/>
          <a:p>
            <a:pPr algn="r"/>
            <a:r>
              <a:rPr lang="en-US" sz="1400" b="1" dirty="0">
                <a:latin typeface="Segoe UI" panose="020B0502040204020203" pitchFamily="34" charset="0"/>
                <a:cs typeface="Segoe UI" panose="020B0502040204020203" pitchFamily="34" charset="0"/>
              </a:rPr>
              <a:t>2026 Fall</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1106340" y="815389"/>
            <a:ext cx="7991296" cy="4571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4" y="18574"/>
            <a:ext cx="864115" cy="973265"/>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3200"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www.arducam.com/docs/arducam-mega/arducam-mega-getting-started/packs/example/PICO.html" TargetMode="External"/><Relationship Id="rId3" Type="http://schemas.openxmlformats.org/officeDocument/2006/relationships/hyperlink" Target="https://www.arducam.com/mega-3mp-color-rolling-shutter-camera-module-with-m12-lens-for-any-microcontroller.html" TargetMode="External"/><Relationship Id="rId7" Type="http://schemas.openxmlformats.org/officeDocument/2006/relationships/hyperlink" Target="https://docs.arducam.com/Arduino-SPI-camera/MEGA-SPI/Troubleshooting/" TargetMode="External"/><Relationship Id="rId12"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hyperlink" Target="https://www.arducam.com/downloads/datasheet/Arducam_MEGA_SPI_Camera_Application_Note.pdf" TargetMode="External"/><Relationship Id="rId11" Type="http://schemas.openxmlformats.org/officeDocument/2006/relationships/image" Target="../media/image10.png"/><Relationship Id="rId5" Type="http://schemas.openxmlformats.org/officeDocument/2006/relationships/hyperlink" Target="https://docs.arducam.com/Arduino-SPI-camera/MEGA-SPI/MEGA-Quick-Start-Guide/" TargetMode="External"/><Relationship Id="rId10" Type="http://schemas.openxmlformats.org/officeDocument/2006/relationships/image" Target="../media/image9.png"/><Relationship Id="rId4" Type="http://schemas.openxmlformats.org/officeDocument/2006/relationships/hyperlink" Target="https://docs.arducam.com/Arduino-SPI-camera/MEGA-SPI/MEGA-SPI-Camera/" TargetMode="External"/><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a:t>Lab #5</a:t>
            </a:r>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a:t>Remote Sensing</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00B00-F676-7D41-D135-43A31E9C8FD0}"/>
              </a:ext>
            </a:extLst>
          </p:cNvPr>
          <p:cNvSpPr>
            <a:spLocks noGrp="1"/>
          </p:cNvSpPr>
          <p:nvPr>
            <p:ph type="title"/>
          </p:nvPr>
        </p:nvSpPr>
        <p:spPr/>
        <p:txBody>
          <a:bodyPr/>
          <a:lstStyle/>
          <a:p>
            <a:r>
              <a:rPr lang="en-US" b="1" dirty="0"/>
              <a:t>Intro</a:t>
            </a:r>
          </a:p>
        </p:txBody>
      </p:sp>
      <p:sp>
        <p:nvSpPr>
          <p:cNvPr id="3" name="Content Placeholder 2">
            <a:extLst>
              <a:ext uri="{FF2B5EF4-FFF2-40B4-BE49-F238E27FC236}">
                <a16:creationId xmlns:a16="http://schemas.microsoft.com/office/drawing/2014/main" id="{A72387E7-B2E1-2B8C-98B1-1309384FFED1}"/>
              </a:ext>
            </a:extLst>
          </p:cNvPr>
          <p:cNvSpPr>
            <a:spLocks noGrp="1"/>
          </p:cNvSpPr>
          <p:nvPr>
            <p:ph idx="1"/>
          </p:nvPr>
        </p:nvSpPr>
        <p:spPr>
          <a:xfrm>
            <a:off x="1066990" y="1003300"/>
            <a:ext cx="5177946" cy="4761819"/>
          </a:xfrm>
        </p:spPr>
        <p:txBody>
          <a:bodyPr>
            <a:normAutofit/>
          </a:bodyPr>
          <a:lstStyle/>
          <a:p>
            <a:pPr marL="0" indent="0">
              <a:buNone/>
            </a:pPr>
            <a:r>
              <a:rPr lang="en-US" sz="1600" b="1" dirty="0"/>
              <a:t>In this lab you will test </a:t>
            </a:r>
            <a:r>
              <a:rPr lang="en-US" sz="1600" b="1" dirty="0" err="1"/>
              <a:t>KestrelSAT’s</a:t>
            </a:r>
            <a:r>
              <a:rPr lang="en-US" sz="1600" b="1" dirty="0"/>
              <a:t> </a:t>
            </a:r>
            <a:r>
              <a:rPr lang="en-US" sz="1600" b="1" dirty="0" err="1"/>
              <a:t>Arducam</a:t>
            </a:r>
            <a:r>
              <a:rPr lang="en-US" sz="1600" b="1" dirty="0"/>
              <a:t> payload to determine if </a:t>
            </a:r>
            <a:r>
              <a:rPr lang="en-US" sz="1600" b="1" dirty="0" err="1"/>
              <a:t>KestrelSAT's</a:t>
            </a:r>
            <a:r>
              <a:rPr lang="en-US" sz="1600" b="1" dirty="0"/>
              <a:t> imaging system meets its theoretical capabilities. </a:t>
            </a:r>
          </a:p>
          <a:p>
            <a:pPr marL="0" indent="0">
              <a:buNone/>
            </a:pPr>
            <a:r>
              <a:rPr lang="en-US" sz="1600" dirty="0"/>
              <a:t>You will record images of a resolution chart to determine the best resolution </a:t>
            </a:r>
            <a:r>
              <a:rPr lang="en-US" sz="1600" dirty="0" err="1"/>
              <a:t>KestrelSAT</a:t>
            </a:r>
            <a:r>
              <a:rPr lang="en-US" sz="1600" dirty="0"/>
              <a:t> can achieve at distances ranging from 0.5 m to 5 m. </a:t>
            </a:r>
          </a:p>
          <a:p>
            <a:pPr marL="0" indent="0">
              <a:buNone/>
            </a:pPr>
            <a:r>
              <a:rPr lang="en-US" sz="1600" dirty="0"/>
              <a:t>In the </a:t>
            </a:r>
            <a:r>
              <a:rPr lang="en-US" sz="1600" dirty="0" err="1"/>
              <a:t>postlab</a:t>
            </a:r>
            <a:r>
              <a:rPr lang="en-US" sz="1600" dirty="0"/>
              <a:t>, you’ll compare this resolution to the theoretical pixel-limited and diffraction-limited resolution of the sensor and lens. </a:t>
            </a:r>
          </a:p>
        </p:txBody>
      </p:sp>
      <p:sp>
        <p:nvSpPr>
          <p:cNvPr id="4" name="Footer Placeholder 3">
            <a:extLst>
              <a:ext uri="{FF2B5EF4-FFF2-40B4-BE49-F238E27FC236}">
                <a16:creationId xmlns:a16="http://schemas.microsoft.com/office/drawing/2014/main" id="{5634D110-6516-62C2-236F-FFCF3596F79E}"/>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B1AF9775-06E9-3893-A4A5-93BC8E478ACE}"/>
              </a:ext>
            </a:extLst>
          </p:cNvPr>
          <p:cNvSpPr>
            <a:spLocks noGrp="1"/>
          </p:cNvSpPr>
          <p:nvPr>
            <p:ph type="sldNum" sz="quarter" idx="12"/>
          </p:nvPr>
        </p:nvSpPr>
        <p:spPr/>
        <p:txBody>
          <a:bodyPr/>
          <a:lstStyle/>
          <a:p>
            <a:fld id="{9A3029B7-FE6B-4680-9049-80E8298A0825}" type="slidenum">
              <a:rPr lang="en-US" smtClean="0"/>
              <a:t>2</a:t>
            </a:fld>
            <a:endParaRPr lang="en-US"/>
          </a:p>
        </p:txBody>
      </p:sp>
      <p:sp>
        <p:nvSpPr>
          <p:cNvPr id="6" name="Content Placeholder 5">
            <a:extLst>
              <a:ext uri="{FF2B5EF4-FFF2-40B4-BE49-F238E27FC236}">
                <a16:creationId xmlns:a16="http://schemas.microsoft.com/office/drawing/2014/main" id="{C0653B1A-2758-6290-C2D9-FE631F895090}"/>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b="1">
                <a:solidFill>
                  <a:srgbClr val="00B0F0"/>
                </a:solidFill>
              </a:rPr>
              <a:t>Intro</a:t>
            </a:r>
            <a:endParaRPr lang="en-US" sz="1200">
              <a:solidFill>
                <a:srgbClr val="00B0F0"/>
              </a:solidFill>
            </a:endParaRPr>
          </a:p>
          <a:p>
            <a:pPr marL="0" indent="0">
              <a:buNone/>
            </a:pPr>
            <a:r>
              <a:rPr lang="en-US" sz="1200"/>
              <a:t>KestrelSAT</a:t>
            </a:r>
          </a:p>
          <a:p>
            <a:pPr marL="0" indent="0">
              <a:buNone/>
            </a:pPr>
            <a:r>
              <a:rPr lang="en-US" sz="1200"/>
              <a:t>Reference</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sp>
        <p:nvSpPr>
          <p:cNvPr id="10" name="Content Placeholder 6">
            <a:extLst>
              <a:ext uri="{FF2B5EF4-FFF2-40B4-BE49-F238E27FC236}">
                <a16:creationId xmlns:a16="http://schemas.microsoft.com/office/drawing/2014/main" id="{36E7FF56-53AE-427A-37D2-A0E2F2CFEDD0}"/>
              </a:ext>
            </a:extLst>
          </p:cNvPr>
          <p:cNvSpPr txBox="1">
            <a:spLocks/>
          </p:cNvSpPr>
          <p:nvPr/>
        </p:nvSpPr>
        <p:spPr>
          <a:xfrm>
            <a:off x="1257932" y="4622786"/>
            <a:ext cx="7348533" cy="1510619"/>
          </a:xfrm>
          <a:prstGeom prst="rect">
            <a:avLst/>
          </a:prstGeom>
        </p:spPr>
        <p:style>
          <a:lnRef idx="2">
            <a:schemeClr val="dk1"/>
          </a:lnRef>
          <a:fillRef idx="1">
            <a:schemeClr val="lt1"/>
          </a:fillRef>
          <a:effectRef idx="0">
            <a:schemeClr val="dk1"/>
          </a:effectRef>
          <a:fontRef idx="minor">
            <a:schemeClr val="dk1"/>
          </a:fontRef>
        </p:style>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spcBef>
                <a:spcPts val="0"/>
              </a:spcBef>
              <a:buNone/>
            </a:pPr>
            <a:r>
              <a:rPr lang="en-US" sz="1400" b="1"/>
              <a:t>Objectives:</a:t>
            </a:r>
            <a:endParaRPr lang="en-US" sz="1400"/>
          </a:p>
          <a:p>
            <a:pPr marL="514350" indent="-514350">
              <a:spcBef>
                <a:spcPts val="600"/>
              </a:spcBef>
              <a:buAutoNum type="arabicParenBoth"/>
            </a:pPr>
            <a:r>
              <a:rPr lang="en-US" sz="1400"/>
              <a:t>Understand fundamentals of remote sensing via practical experimentation.</a:t>
            </a:r>
          </a:p>
          <a:p>
            <a:pPr marL="514350" indent="-514350">
              <a:spcBef>
                <a:spcPts val="600"/>
              </a:spcBef>
              <a:buAutoNum type="arabicParenBoth"/>
            </a:pPr>
            <a:r>
              <a:rPr lang="en-US" sz="1400"/>
              <a:t>Interpret imaging sensor system parameters.</a:t>
            </a:r>
          </a:p>
          <a:p>
            <a:pPr marL="514350" indent="-514350">
              <a:spcBef>
                <a:spcPts val="600"/>
              </a:spcBef>
              <a:buAutoNum type="arabicParenBoth"/>
            </a:pPr>
            <a:r>
              <a:rPr lang="en-US" sz="1400"/>
              <a:t>Calculate Pixel and Diffraction Resolution using real data. </a:t>
            </a:r>
          </a:p>
          <a:p>
            <a:pPr marL="514350" indent="-514350">
              <a:spcBef>
                <a:spcPts val="600"/>
              </a:spcBef>
              <a:buAutoNum type="arabicParenBoth"/>
            </a:pPr>
            <a:r>
              <a:rPr lang="en-US" sz="1400"/>
              <a:t>Compare experimental camera resolution to theoretical resolution.</a:t>
            </a:r>
          </a:p>
          <a:p>
            <a:pPr marL="514350" indent="-514350">
              <a:spcBef>
                <a:spcPts val="600"/>
              </a:spcBef>
              <a:buAutoNum type="arabicParenBoth"/>
            </a:pPr>
            <a:r>
              <a:rPr lang="en-US" sz="1400"/>
              <a:t>Examine limitations of imaging sensors.</a:t>
            </a:r>
          </a:p>
        </p:txBody>
      </p:sp>
      <p:sp>
        <p:nvSpPr>
          <p:cNvPr id="8" name="Content Placeholder 7">
            <a:extLst>
              <a:ext uri="{FF2B5EF4-FFF2-40B4-BE49-F238E27FC236}">
                <a16:creationId xmlns:a16="http://schemas.microsoft.com/office/drawing/2014/main" id="{97EEFFCF-7638-14D5-3FD7-6C8033D9CB6E}"/>
              </a:ext>
            </a:extLst>
          </p:cNvPr>
          <p:cNvSpPr txBox="1">
            <a:spLocks/>
          </p:cNvSpPr>
          <p:nvPr/>
        </p:nvSpPr>
        <p:spPr>
          <a:xfrm>
            <a:off x="6208888" y="1092881"/>
            <a:ext cx="2744803" cy="1537499"/>
          </a:xfrm>
          <a:prstGeom prst="rect">
            <a:avLst/>
          </a:prstGeom>
          <a:no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dirty="0">
                <a:latin typeface="Segoe UI" panose="020B0502040204020203" pitchFamily="34" charset="0"/>
                <a:cs typeface="Segoe UI" panose="020B0502040204020203" pitchFamily="34" charset="0"/>
              </a:rPr>
              <a:t>Authorized Resources – LAB</a:t>
            </a:r>
            <a:endParaRPr lang="en-US" sz="1200" b="1" dirty="0">
              <a:solidFill>
                <a:srgbClr val="FF0000"/>
              </a:solidFill>
              <a:latin typeface="Segoe UI" panose="020B0502040204020203" pitchFamily="34" charset="0"/>
              <a:cs typeface="Segoe UI" panose="020B0502040204020203" pitchFamily="34" charset="0"/>
            </a:endParaRPr>
          </a:p>
          <a:p>
            <a:r>
              <a:rPr lang="en-US" sz="1200" b="1" dirty="0">
                <a:solidFill>
                  <a:srgbClr val="FF0000"/>
                </a:solidFill>
                <a:latin typeface="Segoe UI" panose="020B0502040204020203" pitchFamily="34" charset="0"/>
                <a:cs typeface="Segoe UI" panose="020B0502040204020203" pitchFamily="34" charset="0"/>
              </a:rPr>
              <a:t>Lab activities are team effort</a:t>
            </a:r>
          </a:p>
          <a:p>
            <a:pPr marL="0" indent="-223838"/>
            <a:r>
              <a:rPr lang="en-US" sz="1200" dirty="0">
                <a:latin typeface="Segoe UI" panose="020B0502040204020203" pitchFamily="34" charset="0"/>
                <a:cs typeface="Segoe UI" panose="020B0502040204020203" pitchFamily="34" charset="0"/>
              </a:rPr>
              <a:t>Any non-human resource</a:t>
            </a:r>
          </a:p>
          <a:p>
            <a:pPr marL="223838" indent="-223838"/>
            <a:r>
              <a:rPr lang="en-US" sz="1200" b="1" dirty="0">
                <a:highlight>
                  <a:srgbClr val="FFFF00"/>
                </a:highlight>
                <a:latin typeface="Segoe UI" panose="020B0502040204020203" pitchFamily="34" charset="0"/>
                <a:cs typeface="Segoe UI" panose="020B0502040204020203" pitchFamily="34" charset="0"/>
              </a:rPr>
              <a:t>Generative AI Level 3 Allowed</a:t>
            </a:r>
          </a:p>
          <a:p>
            <a:pPr marL="0" indent="-223838"/>
            <a:r>
              <a:rPr lang="en-US" sz="1200" dirty="0">
                <a:latin typeface="Segoe UI" panose="020B0502040204020203" pitchFamily="34" charset="0"/>
                <a:cs typeface="Segoe UI" panose="020B0502040204020203" pitchFamily="34" charset="0"/>
              </a:rPr>
              <a:t>Astro 331 course notes/instructor </a:t>
            </a:r>
          </a:p>
        </p:txBody>
      </p:sp>
      <p:sp>
        <p:nvSpPr>
          <p:cNvPr id="9" name="Content Placeholder 7">
            <a:extLst>
              <a:ext uri="{FF2B5EF4-FFF2-40B4-BE49-F238E27FC236}">
                <a16:creationId xmlns:a16="http://schemas.microsoft.com/office/drawing/2014/main" id="{E546E108-D457-079D-8852-3F767CBBA251}"/>
              </a:ext>
            </a:extLst>
          </p:cNvPr>
          <p:cNvSpPr txBox="1">
            <a:spLocks/>
          </p:cNvSpPr>
          <p:nvPr/>
        </p:nvSpPr>
        <p:spPr>
          <a:xfrm>
            <a:off x="6208888" y="2731980"/>
            <a:ext cx="2744802" cy="1521640"/>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dirty="0">
                <a:latin typeface="Segoe UI" panose="020B0502040204020203" pitchFamily="34" charset="0"/>
                <a:cs typeface="Segoe UI" panose="020B0502040204020203" pitchFamily="34" charset="0"/>
              </a:rPr>
              <a:t>Authorized Resources - POSTLAB</a:t>
            </a:r>
            <a:endParaRPr lang="en-US" sz="1200" b="1" dirty="0">
              <a:solidFill>
                <a:srgbClr val="FF0000"/>
              </a:solidFill>
              <a:latin typeface="Segoe UI" panose="020B0502040204020203" pitchFamily="34" charset="0"/>
              <a:cs typeface="Segoe UI" panose="020B0502040204020203" pitchFamily="34" charset="0"/>
            </a:endParaRPr>
          </a:p>
          <a:p>
            <a:r>
              <a:rPr lang="en-US" sz="1200" b="1" dirty="0" err="1">
                <a:solidFill>
                  <a:srgbClr val="FF0000"/>
                </a:solidFill>
                <a:latin typeface="Segoe UI" panose="020B0502040204020203" pitchFamily="34" charset="0"/>
                <a:cs typeface="Segoe UI" panose="020B0502040204020203" pitchFamily="34" charset="0"/>
              </a:rPr>
              <a:t>Postlab</a:t>
            </a:r>
            <a:r>
              <a:rPr lang="en-US" sz="1200" b="1" dirty="0">
                <a:solidFill>
                  <a:srgbClr val="FF0000"/>
                </a:solidFill>
                <a:latin typeface="Segoe UI" panose="020B0502040204020203" pitchFamily="34" charset="0"/>
                <a:cs typeface="Segoe UI" panose="020B0502040204020203" pitchFamily="34" charset="0"/>
              </a:rPr>
              <a:t> turn-in is Group effort</a:t>
            </a:r>
          </a:p>
          <a:p>
            <a:pPr marL="223838" indent="-223838"/>
            <a:r>
              <a:rPr lang="en-US" sz="1200" b="1" dirty="0">
                <a:highlight>
                  <a:srgbClr val="FFFF00"/>
                </a:highlight>
                <a:latin typeface="Segoe UI" panose="020B0502040204020203" pitchFamily="34" charset="0"/>
                <a:cs typeface="Segoe UI" panose="020B0502040204020203" pitchFamily="34" charset="0"/>
              </a:rPr>
              <a:t>Generative AI Level 0 Allowed (</a:t>
            </a:r>
            <a:r>
              <a:rPr lang="en-US" sz="1200" b="1" dirty="0">
                <a:solidFill>
                  <a:srgbClr val="FF0000"/>
                </a:solidFill>
                <a:highlight>
                  <a:srgbClr val="FFFF00"/>
                </a:highlight>
                <a:latin typeface="Segoe UI" panose="020B0502040204020203" pitchFamily="34" charset="0"/>
                <a:cs typeface="Segoe UI" panose="020B0502040204020203" pitchFamily="34" charset="0"/>
              </a:rPr>
              <a:t>G</a:t>
            </a:r>
            <a:r>
              <a:rPr lang="en-US" sz="1200" b="1" i="1" dirty="0">
                <a:solidFill>
                  <a:srgbClr val="FF0000"/>
                </a:solidFill>
                <a:highlight>
                  <a:srgbClr val="FFFF00"/>
                </a:highlight>
                <a:latin typeface="Segoe UI" panose="020B0502040204020203" pitchFamily="34" charset="0"/>
                <a:cs typeface="Segoe UI" panose="020B0502040204020203" pitchFamily="34" charset="0"/>
              </a:rPr>
              <a:t>enAI not allowed</a:t>
            </a:r>
            <a:r>
              <a:rPr lang="en-US" sz="1200" b="1" dirty="0">
                <a:highlight>
                  <a:srgbClr val="FFFF00"/>
                </a:highlight>
                <a:latin typeface="Segoe UI" panose="020B0502040204020203" pitchFamily="34" charset="0"/>
                <a:cs typeface="Segoe UI" panose="020B0502040204020203" pitchFamily="34" charset="0"/>
              </a:rPr>
              <a:t>)</a:t>
            </a:r>
          </a:p>
          <a:p>
            <a:pPr marL="0" indent="-223838"/>
            <a:r>
              <a:rPr lang="en-US" sz="1200" dirty="0">
                <a:latin typeface="Segoe UI" panose="020B0502040204020203" pitchFamily="34" charset="0"/>
                <a:cs typeface="Segoe UI" panose="020B0502040204020203" pitchFamily="34" charset="0"/>
              </a:rPr>
              <a:t>Astro 331 course notes/instructor </a:t>
            </a:r>
          </a:p>
        </p:txBody>
      </p:sp>
    </p:spTree>
    <p:extLst>
      <p:ext uri="{BB962C8B-B14F-4D97-AF65-F5344CB8AC3E}">
        <p14:creationId xmlns:p14="http://schemas.microsoft.com/office/powerpoint/2010/main" val="2953783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566CE3A-AB03-86DA-E1D8-A4C099E2ECD4}"/>
              </a:ext>
            </a:extLst>
          </p:cNvPr>
          <p:cNvPicPr>
            <a:picLocks noChangeAspect="1"/>
          </p:cNvPicPr>
          <p:nvPr/>
        </p:nvPicPr>
        <p:blipFill>
          <a:blip r:embed="rId2"/>
          <a:stretch>
            <a:fillRect/>
          </a:stretch>
        </p:blipFill>
        <p:spPr>
          <a:xfrm>
            <a:off x="5099683" y="665153"/>
            <a:ext cx="3017504" cy="3263072"/>
          </a:xfrm>
          <a:prstGeom prst="rect">
            <a:avLst/>
          </a:prstGeom>
        </p:spPr>
      </p:pic>
      <p:sp>
        <p:nvSpPr>
          <p:cNvPr id="2" name="Title 1">
            <a:extLst>
              <a:ext uri="{FF2B5EF4-FFF2-40B4-BE49-F238E27FC236}">
                <a16:creationId xmlns:a16="http://schemas.microsoft.com/office/drawing/2014/main" id="{99A54F35-7A45-834B-552E-47B4FCB3F1A5}"/>
              </a:ext>
            </a:extLst>
          </p:cNvPr>
          <p:cNvSpPr>
            <a:spLocks noGrp="1"/>
          </p:cNvSpPr>
          <p:nvPr>
            <p:ph type="title"/>
          </p:nvPr>
        </p:nvSpPr>
        <p:spPr/>
        <p:txBody>
          <a:bodyPr/>
          <a:lstStyle/>
          <a:p>
            <a:r>
              <a:rPr lang="en-US" b="1" err="1"/>
              <a:t>KestrelSAT</a:t>
            </a:r>
            <a:r>
              <a:rPr lang="en-US" b="1"/>
              <a:t> Overview</a:t>
            </a:r>
          </a:p>
        </p:txBody>
      </p:sp>
      <p:sp>
        <p:nvSpPr>
          <p:cNvPr id="4" name="Footer Placeholder 3">
            <a:extLst>
              <a:ext uri="{FF2B5EF4-FFF2-40B4-BE49-F238E27FC236}">
                <a16:creationId xmlns:a16="http://schemas.microsoft.com/office/drawing/2014/main" id="{94D7BBFB-FC84-122A-DAFE-4A3B1255037A}"/>
              </a:ext>
            </a:extLst>
          </p:cNvPr>
          <p:cNvSpPr>
            <a:spLocks noGrp="1"/>
          </p:cNvSpPr>
          <p:nvPr>
            <p:ph type="ftr" sz="quarter" idx="11"/>
          </p:nvPr>
        </p:nvSpPr>
        <p:spPr/>
        <p:txBody>
          <a:bodyPr/>
          <a:lstStyle/>
          <a:p>
            <a:r>
              <a:rPr lang="en-US"/>
              <a:t>Astro 331 Lab 43</a:t>
            </a:r>
          </a:p>
        </p:txBody>
      </p:sp>
      <p:sp>
        <p:nvSpPr>
          <p:cNvPr id="5" name="Slide Number Placeholder 4">
            <a:extLst>
              <a:ext uri="{FF2B5EF4-FFF2-40B4-BE49-F238E27FC236}">
                <a16:creationId xmlns:a16="http://schemas.microsoft.com/office/drawing/2014/main" id="{16DA4141-FE37-5BB7-BB66-8334BFE7CE34}"/>
              </a:ext>
            </a:extLst>
          </p:cNvPr>
          <p:cNvSpPr>
            <a:spLocks noGrp="1"/>
          </p:cNvSpPr>
          <p:nvPr>
            <p:ph type="sldNum" sz="quarter" idx="12"/>
          </p:nvPr>
        </p:nvSpPr>
        <p:spPr/>
        <p:txBody>
          <a:bodyPr/>
          <a:lstStyle/>
          <a:p>
            <a:fld id="{9A3029B7-FE6B-4680-9049-80E8298A0825}" type="slidenum">
              <a:rPr lang="en-US" smtClean="0"/>
              <a:t>3</a:t>
            </a:fld>
            <a:endParaRPr lang="en-US"/>
          </a:p>
        </p:txBody>
      </p:sp>
      <p:pic>
        <p:nvPicPr>
          <p:cNvPr id="9" name="Picture 8">
            <a:extLst>
              <a:ext uri="{FF2B5EF4-FFF2-40B4-BE49-F238E27FC236}">
                <a16:creationId xmlns:a16="http://schemas.microsoft.com/office/drawing/2014/main" id="{3D2D4948-C1E5-58C8-CAB9-7D9AE9A9DC6F}"/>
              </a:ext>
            </a:extLst>
          </p:cNvPr>
          <p:cNvPicPr>
            <a:picLocks noChangeAspect="1"/>
          </p:cNvPicPr>
          <p:nvPr/>
        </p:nvPicPr>
        <p:blipFill>
          <a:blip r:embed="rId3"/>
          <a:stretch>
            <a:fillRect/>
          </a:stretch>
        </p:blipFill>
        <p:spPr>
          <a:xfrm>
            <a:off x="953319" y="803572"/>
            <a:ext cx="3086100" cy="3188848"/>
          </a:xfrm>
          <a:prstGeom prst="rect">
            <a:avLst/>
          </a:prstGeom>
        </p:spPr>
      </p:pic>
      <p:pic>
        <p:nvPicPr>
          <p:cNvPr id="7" name="Picture 6">
            <a:extLst>
              <a:ext uri="{FF2B5EF4-FFF2-40B4-BE49-F238E27FC236}">
                <a16:creationId xmlns:a16="http://schemas.microsoft.com/office/drawing/2014/main" id="{355E37A0-BB69-550E-9206-199D0D2C21E1}"/>
              </a:ext>
            </a:extLst>
          </p:cNvPr>
          <p:cNvPicPr>
            <a:picLocks noChangeAspect="1"/>
          </p:cNvPicPr>
          <p:nvPr/>
        </p:nvPicPr>
        <p:blipFill>
          <a:blip r:embed="rId4"/>
          <a:stretch>
            <a:fillRect/>
          </a:stretch>
        </p:blipFill>
        <p:spPr>
          <a:xfrm>
            <a:off x="1768810" y="3141420"/>
            <a:ext cx="3519560" cy="3595297"/>
          </a:xfrm>
          <a:prstGeom prst="rect">
            <a:avLst/>
          </a:prstGeom>
        </p:spPr>
      </p:pic>
      <p:pic>
        <p:nvPicPr>
          <p:cNvPr id="13" name="Picture 12">
            <a:extLst>
              <a:ext uri="{FF2B5EF4-FFF2-40B4-BE49-F238E27FC236}">
                <a16:creationId xmlns:a16="http://schemas.microsoft.com/office/drawing/2014/main" id="{3D6FB22C-AD24-EEBB-AB02-47AE28C11C93}"/>
              </a:ext>
            </a:extLst>
          </p:cNvPr>
          <p:cNvPicPr>
            <a:picLocks noChangeAspect="1"/>
          </p:cNvPicPr>
          <p:nvPr/>
        </p:nvPicPr>
        <p:blipFill>
          <a:blip r:embed="rId5"/>
          <a:stretch>
            <a:fillRect/>
          </a:stretch>
        </p:blipFill>
        <p:spPr>
          <a:xfrm>
            <a:off x="6115050" y="3789243"/>
            <a:ext cx="2960207" cy="2907582"/>
          </a:xfrm>
          <a:prstGeom prst="rect">
            <a:avLst/>
          </a:prstGeom>
        </p:spPr>
      </p:pic>
      <p:sp>
        <p:nvSpPr>
          <p:cNvPr id="15" name="TextBox 14">
            <a:extLst>
              <a:ext uri="{FF2B5EF4-FFF2-40B4-BE49-F238E27FC236}">
                <a16:creationId xmlns:a16="http://schemas.microsoft.com/office/drawing/2014/main" id="{B7F13540-366A-1BB6-CD45-CCE78189C27D}"/>
              </a:ext>
            </a:extLst>
          </p:cNvPr>
          <p:cNvSpPr txBox="1"/>
          <p:nvPr/>
        </p:nvSpPr>
        <p:spPr>
          <a:xfrm>
            <a:off x="670938" y="3618500"/>
            <a:ext cx="817806"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Camera Side</a:t>
            </a:r>
            <a:endParaRPr lang="en-US" sz="1200">
              <a:solidFill>
                <a:srgbClr val="00B0F0"/>
              </a:solidFill>
            </a:endParaRPr>
          </a:p>
        </p:txBody>
      </p:sp>
      <p:sp>
        <p:nvSpPr>
          <p:cNvPr id="16" name="TextBox 15">
            <a:extLst>
              <a:ext uri="{FF2B5EF4-FFF2-40B4-BE49-F238E27FC236}">
                <a16:creationId xmlns:a16="http://schemas.microsoft.com/office/drawing/2014/main" id="{FA571FF5-3B3D-89B8-BD24-D394316D1D06}"/>
              </a:ext>
            </a:extLst>
          </p:cNvPr>
          <p:cNvSpPr txBox="1"/>
          <p:nvPr/>
        </p:nvSpPr>
        <p:spPr>
          <a:xfrm>
            <a:off x="8301986" y="1431495"/>
            <a:ext cx="624112" cy="646331"/>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Solar Power Side</a:t>
            </a:r>
            <a:endParaRPr lang="en-US" sz="1200">
              <a:solidFill>
                <a:srgbClr val="00B0F0"/>
              </a:solidFill>
            </a:endParaRPr>
          </a:p>
        </p:txBody>
      </p:sp>
      <p:sp>
        <p:nvSpPr>
          <p:cNvPr id="17" name="TextBox 16">
            <a:extLst>
              <a:ext uri="{FF2B5EF4-FFF2-40B4-BE49-F238E27FC236}">
                <a16:creationId xmlns:a16="http://schemas.microsoft.com/office/drawing/2014/main" id="{D8C01838-74F9-37D5-9A3F-B93CEFF660FE}"/>
              </a:ext>
            </a:extLst>
          </p:cNvPr>
          <p:cNvSpPr txBox="1"/>
          <p:nvPr/>
        </p:nvSpPr>
        <p:spPr>
          <a:xfrm>
            <a:off x="515429" y="4571665"/>
            <a:ext cx="1128825"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Comm (</a:t>
            </a:r>
            <a:r>
              <a:rPr lang="en-US" sz="1200" b="1" err="1">
                <a:solidFill>
                  <a:srgbClr val="00B0F0"/>
                </a:solidFill>
              </a:rPr>
              <a:t>Xbee</a:t>
            </a:r>
            <a:r>
              <a:rPr lang="en-US" sz="1200" b="1">
                <a:solidFill>
                  <a:srgbClr val="00B0F0"/>
                </a:solidFill>
              </a:rPr>
              <a:t> transceiver)</a:t>
            </a:r>
            <a:endParaRPr lang="en-US" sz="1200">
              <a:solidFill>
                <a:srgbClr val="00B0F0"/>
              </a:solidFill>
            </a:endParaRPr>
          </a:p>
        </p:txBody>
      </p:sp>
      <p:sp>
        <p:nvSpPr>
          <p:cNvPr id="18" name="TextBox 17">
            <a:extLst>
              <a:ext uri="{FF2B5EF4-FFF2-40B4-BE49-F238E27FC236}">
                <a16:creationId xmlns:a16="http://schemas.microsoft.com/office/drawing/2014/main" id="{859B32C9-8A04-B91E-DAA4-B8CFBDF09D7F}"/>
              </a:ext>
            </a:extLst>
          </p:cNvPr>
          <p:cNvSpPr txBox="1"/>
          <p:nvPr/>
        </p:nvSpPr>
        <p:spPr>
          <a:xfrm>
            <a:off x="428942" y="5145092"/>
            <a:ext cx="1215312" cy="276999"/>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IMU (BNO055)</a:t>
            </a:r>
            <a:endParaRPr lang="en-US" sz="1200">
              <a:solidFill>
                <a:srgbClr val="00B0F0"/>
              </a:solidFill>
            </a:endParaRPr>
          </a:p>
        </p:txBody>
      </p:sp>
      <p:sp>
        <p:nvSpPr>
          <p:cNvPr id="19" name="TextBox 18">
            <a:extLst>
              <a:ext uri="{FF2B5EF4-FFF2-40B4-BE49-F238E27FC236}">
                <a16:creationId xmlns:a16="http://schemas.microsoft.com/office/drawing/2014/main" id="{38E4581C-D5D6-02D0-BE5C-E8EF9D6C6360}"/>
              </a:ext>
            </a:extLst>
          </p:cNvPr>
          <p:cNvSpPr txBox="1"/>
          <p:nvPr/>
        </p:nvSpPr>
        <p:spPr>
          <a:xfrm>
            <a:off x="200483" y="5531964"/>
            <a:ext cx="1443771" cy="646331"/>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MCU (</a:t>
            </a:r>
            <a:r>
              <a:rPr lang="en-US" sz="1200" b="1" err="1">
                <a:solidFill>
                  <a:srgbClr val="00B0F0"/>
                </a:solidFill>
              </a:rPr>
              <a:t>Rpi</a:t>
            </a:r>
            <a:r>
              <a:rPr lang="en-US" sz="1200" b="1">
                <a:solidFill>
                  <a:srgbClr val="00B0F0"/>
                </a:solidFill>
              </a:rPr>
              <a:t> Pico)</a:t>
            </a:r>
          </a:p>
          <a:p>
            <a:pPr algn="ctr"/>
            <a:r>
              <a:rPr lang="en-US" sz="1200" b="1">
                <a:solidFill>
                  <a:srgbClr val="00B0F0"/>
                </a:solidFill>
              </a:rPr>
              <a:t>Memory (SD)</a:t>
            </a:r>
          </a:p>
          <a:p>
            <a:pPr algn="ctr"/>
            <a:r>
              <a:rPr lang="en-US" sz="1200" b="1">
                <a:solidFill>
                  <a:srgbClr val="00B0F0"/>
                </a:solidFill>
              </a:rPr>
              <a:t>Real-Time Clock</a:t>
            </a:r>
            <a:endParaRPr lang="en-US" sz="1200">
              <a:solidFill>
                <a:srgbClr val="00B0F0"/>
              </a:solidFill>
            </a:endParaRPr>
          </a:p>
        </p:txBody>
      </p:sp>
      <p:sp>
        <p:nvSpPr>
          <p:cNvPr id="20" name="TextBox 19">
            <a:extLst>
              <a:ext uri="{FF2B5EF4-FFF2-40B4-BE49-F238E27FC236}">
                <a16:creationId xmlns:a16="http://schemas.microsoft.com/office/drawing/2014/main" id="{BF8CE2D5-3D0D-D20D-B389-87E4D55F96F5}"/>
              </a:ext>
            </a:extLst>
          </p:cNvPr>
          <p:cNvSpPr txBox="1"/>
          <p:nvPr/>
        </p:nvSpPr>
        <p:spPr>
          <a:xfrm>
            <a:off x="8170502" y="3063991"/>
            <a:ext cx="973498"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Reaction Wheel</a:t>
            </a:r>
            <a:endParaRPr lang="en-US" sz="1200">
              <a:solidFill>
                <a:srgbClr val="00B0F0"/>
              </a:solidFill>
            </a:endParaRPr>
          </a:p>
        </p:txBody>
      </p:sp>
      <p:sp>
        <p:nvSpPr>
          <p:cNvPr id="21" name="TextBox 20">
            <a:extLst>
              <a:ext uri="{FF2B5EF4-FFF2-40B4-BE49-F238E27FC236}">
                <a16:creationId xmlns:a16="http://schemas.microsoft.com/office/drawing/2014/main" id="{B68D59D5-931B-762E-231B-584522654965}"/>
              </a:ext>
            </a:extLst>
          </p:cNvPr>
          <p:cNvSpPr txBox="1"/>
          <p:nvPr/>
        </p:nvSpPr>
        <p:spPr>
          <a:xfrm>
            <a:off x="5255127" y="5071235"/>
            <a:ext cx="837544"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Motor Driver</a:t>
            </a:r>
            <a:endParaRPr lang="en-US" sz="1200">
              <a:solidFill>
                <a:srgbClr val="00B0F0"/>
              </a:solidFill>
            </a:endParaRPr>
          </a:p>
        </p:txBody>
      </p:sp>
      <p:sp>
        <p:nvSpPr>
          <p:cNvPr id="22" name="TextBox 21">
            <a:extLst>
              <a:ext uri="{FF2B5EF4-FFF2-40B4-BE49-F238E27FC236}">
                <a16:creationId xmlns:a16="http://schemas.microsoft.com/office/drawing/2014/main" id="{7481C920-E9B7-4172-DFD4-DB91BEB2F75A}"/>
              </a:ext>
            </a:extLst>
          </p:cNvPr>
          <p:cNvSpPr txBox="1"/>
          <p:nvPr/>
        </p:nvSpPr>
        <p:spPr>
          <a:xfrm>
            <a:off x="5255127" y="3641154"/>
            <a:ext cx="837544" cy="830997"/>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Solar Power</a:t>
            </a:r>
          </a:p>
          <a:p>
            <a:pPr algn="ctr"/>
            <a:r>
              <a:rPr lang="en-US" sz="1200" b="1">
                <a:solidFill>
                  <a:srgbClr val="00B0F0"/>
                </a:solidFill>
              </a:rPr>
              <a:t>V &amp; I Sensor</a:t>
            </a:r>
            <a:endParaRPr lang="en-US" sz="1200">
              <a:solidFill>
                <a:srgbClr val="00B0F0"/>
              </a:solidFill>
            </a:endParaRPr>
          </a:p>
        </p:txBody>
      </p:sp>
      <p:sp>
        <p:nvSpPr>
          <p:cNvPr id="23" name="TextBox 22">
            <a:extLst>
              <a:ext uri="{FF2B5EF4-FFF2-40B4-BE49-F238E27FC236}">
                <a16:creationId xmlns:a16="http://schemas.microsoft.com/office/drawing/2014/main" id="{7A3844A2-D610-A306-6B29-3D6D1318BC3F}"/>
              </a:ext>
            </a:extLst>
          </p:cNvPr>
          <p:cNvSpPr txBox="1"/>
          <p:nvPr/>
        </p:nvSpPr>
        <p:spPr>
          <a:xfrm>
            <a:off x="5210369" y="4529253"/>
            <a:ext cx="927060"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Battery Controller</a:t>
            </a:r>
            <a:endParaRPr lang="en-US" sz="1200">
              <a:solidFill>
                <a:srgbClr val="00B0F0"/>
              </a:solidFill>
            </a:endParaRPr>
          </a:p>
        </p:txBody>
      </p:sp>
      <p:sp>
        <p:nvSpPr>
          <p:cNvPr id="24" name="TextBox 23">
            <a:extLst>
              <a:ext uri="{FF2B5EF4-FFF2-40B4-BE49-F238E27FC236}">
                <a16:creationId xmlns:a16="http://schemas.microsoft.com/office/drawing/2014/main" id="{BEEF44AF-6BA4-E0E2-A832-F72B61514E1A}"/>
              </a:ext>
            </a:extLst>
          </p:cNvPr>
          <p:cNvSpPr txBox="1"/>
          <p:nvPr/>
        </p:nvSpPr>
        <p:spPr>
          <a:xfrm>
            <a:off x="5266317" y="5684485"/>
            <a:ext cx="837544" cy="600164"/>
          </a:xfrm>
          <a:prstGeom prst="rect">
            <a:avLst/>
          </a:prstGeom>
          <a:solidFill>
            <a:schemeClr val="bg1"/>
          </a:solidFill>
          <a:ln>
            <a:solidFill>
              <a:srgbClr val="00B0F0"/>
            </a:solidFill>
          </a:ln>
        </p:spPr>
        <p:txBody>
          <a:bodyPr wrap="square">
            <a:spAutoFit/>
          </a:bodyPr>
          <a:lstStyle/>
          <a:p>
            <a:pPr algn="ctr"/>
            <a:r>
              <a:rPr lang="en-US" sz="1100" b="1">
                <a:solidFill>
                  <a:srgbClr val="00B0F0"/>
                </a:solidFill>
              </a:rPr>
              <a:t>12V DC to 5V DC Regulator</a:t>
            </a:r>
            <a:endParaRPr lang="en-US" sz="1100">
              <a:solidFill>
                <a:srgbClr val="00B0F0"/>
              </a:solidFill>
            </a:endParaRPr>
          </a:p>
        </p:txBody>
      </p:sp>
      <p:cxnSp>
        <p:nvCxnSpPr>
          <p:cNvPr id="26" name="Straight Arrow Connector 25">
            <a:extLst>
              <a:ext uri="{FF2B5EF4-FFF2-40B4-BE49-F238E27FC236}">
                <a16:creationId xmlns:a16="http://schemas.microsoft.com/office/drawing/2014/main" id="{07AD982C-F3DB-50E1-D648-9EA64C8C8062}"/>
              </a:ext>
            </a:extLst>
          </p:cNvPr>
          <p:cNvCxnSpPr>
            <a:cxnSpLocks/>
          </p:cNvCxnSpPr>
          <p:nvPr/>
        </p:nvCxnSpPr>
        <p:spPr>
          <a:xfrm flipV="1">
            <a:off x="1209190" y="3063991"/>
            <a:ext cx="332869" cy="57716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8DDDB93F-E026-D312-22FE-6F1E226B3312}"/>
              </a:ext>
            </a:extLst>
          </p:cNvPr>
          <p:cNvCxnSpPr>
            <a:cxnSpLocks/>
          </p:cNvCxnSpPr>
          <p:nvPr/>
        </p:nvCxnSpPr>
        <p:spPr>
          <a:xfrm flipV="1">
            <a:off x="1617568" y="4050329"/>
            <a:ext cx="1080307" cy="779325"/>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0FCB7317-6A74-D257-CDAF-DC1202867EDC}"/>
              </a:ext>
            </a:extLst>
          </p:cNvPr>
          <p:cNvCxnSpPr>
            <a:cxnSpLocks/>
          </p:cNvCxnSpPr>
          <p:nvPr/>
        </p:nvCxnSpPr>
        <p:spPr>
          <a:xfrm flipV="1">
            <a:off x="1617568" y="4910817"/>
            <a:ext cx="1511712" cy="398980"/>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742C285E-95DD-CA72-6621-A02402373440}"/>
              </a:ext>
            </a:extLst>
          </p:cNvPr>
          <p:cNvCxnSpPr>
            <a:cxnSpLocks/>
          </p:cNvCxnSpPr>
          <p:nvPr/>
        </p:nvCxnSpPr>
        <p:spPr>
          <a:xfrm flipV="1">
            <a:off x="1546950" y="5800015"/>
            <a:ext cx="1150925" cy="125805"/>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51536598-E67F-0A67-02D5-34AE4E181403}"/>
              </a:ext>
            </a:extLst>
          </p:cNvPr>
          <p:cNvCxnSpPr>
            <a:cxnSpLocks/>
          </p:cNvCxnSpPr>
          <p:nvPr/>
        </p:nvCxnSpPr>
        <p:spPr>
          <a:xfrm flipH="1">
            <a:off x="4079356" y="4035810"/>
            <a:ext cx="1186961" cy="218646"/>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31ACCC54-ACEF-A05A-0E69-FBF7B5EAF82C}"/>
              </a:ext>
            </a:extLst>
          </p:cNvPr>
          <p:cNvCxnSpPr>
            <a:cxnSpLocks/>
          </p:cNvCxnSpPr>
          <p:nvPr/>
        </p:nvCxnSpPr>
        <p:spPr>
          <a:xfrm flipH="1" flipV="1">
            <a:off x="4683863" y="4562305"/>
            <a:ext cx="626886" cy="15525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2525982-BB6B-9C41-F5D0-9CE1059DD0DC}"/>
              </a:ext>
            </a:extLst>
          </p:cNvPr>
          <p:cNvCxnSpPr>
            <a:cxnSpLocks/>
          </p:cNvCxnSpPr>
          <p:nvPr/>
        </p:nvCxnSpPr>
        <p:spPr>
          <a:xfrm flipH="1" flipV="1">
            <a:off x="4051545" y="5164086"/>
            <a:ext cx="1269941" cy="10014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35F63928-0051-9D1F-04A4-CA00C5371727}"/>
              </a:ext>
            </a:extLst>
          </p:cNvPr>
          <p:cNvCxnSpPr>
            <a:cxnSpLocks/>
          </p:cNvCxnSpPr>
          <p:nvPr/>
        </p:nvCxnSpPr>
        <p:spPr>
          <a:xfrm flipH="1" flipV="1">
            <a:off x="3928114" y="5909453"/>
            <a:ext cx="1395670" cy="68102"/>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F74B7D1C-2742-712D-18EB-897451283656}"/>
              </a:ext>
            </a:extLst>
          </p:cNvPr>
          <p:cNvCxnSpPr>
            <a:cxnSpLocks/>
          </p:cNvCxnSpPr>
          <p:nvPr/>
        </p:nvCxnSpPr>
        <p:spPr>
          <a:xfrm flipH="1">
            <a:off x="7810496" y="3544278"/>
            <a:ext cx="866311" cy="163662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D85CEFD-7287-88F6-1006-6C16113A087F}"/>
              </a:ext>
            </a:extLst>
          </p:cNvPr>
          <p:cNvCxnSpPr>
            <a:cxnSpLocks/>
          </p:cNvCxnSpPr>
          <p:nvPr/>
        </p:nvCxnSpPr>
        <p:spPr>
          <a:xfrm flipH="1">
            <a:off x="7416800" y="1877143"/>
            <a:ext cx="885186" cy="723817"/>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6" name="Content Placeholder 5">
            <a:extLst>
              <a:ext uri="{FF2B5EF4-FFF2-40B4-BE49-F238E27FC236}">
                <a16:creationId xmlns:a16="http://schemas.microsoft.com/office/drawing/2014/main" id="{BC7B1187-942C-BE44-54A3-51CDDD487410}"/>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100" b="1">
                <a:solidFill>
                  <a:srgbClr val="00B0F0"/>
                </a:solidFill>
              </a:rPr>
              <a:t>KestrelSAT</a:t>
            </a:r>
          </a:p>
          <a:p>
            <a:pPr marL="0" indent="0">
              <a:buNone/>
            </a:pPr>
            <a:r>
              <a:rPr lang="en-US" sz="1200"/>
              <a:t>Reference</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2592074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AC0B3-1EC3-5E9A-8F32-877B156CE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81CAB-FDB7-4776-6FEF-87B0DFB21E98}"/>
              </a:ext>
            </a:extLst>
          </p:cNvPr>
          <p:cNvSpPr>
            <a:spLocks noGrp="1"/>
          </p:cNvSpPr>
          <p:nvPr>
            <p:ph type="title"/>
          </p:nvPr>
        </p:nvSpPr>
        <p:spPr/>
        <p:txBody>
          <a:bodyPr>
            <a:normAutofit/>
          </a:bodyPr>
          <a:lstStyle/>
          <a:p>
            <a:r>
              <a:rPr lang="en-US" b="1"/>
              <a:t>ESP32 Thing Plus Pinout Diagram</a:t>
            </a:r>
          </a:p>
        </p:txBody>
      </p:sp>
      <p:sp>
        <p:nvSpPr>
          <p:cNvPr id="4" name="Footer Placeholder 3">
            <a:extLst>
              <a:ext uri="{FF2B5EF4-FFF2-40B4-BE49-F238E27FC236}">
                <a16:creationId xmlns:a16="http://schemas.microsoft.com/office/drawing/2014/main" id="{E68801EB-CF08-3CA5-9478-5D2B008F28AB}"/>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C851EDD8-FB91-4812-EBD8-CAB2CB4D5DB0}"/>
              </a:ext>
            </a:extLst>
          </p:cNvPr>
          <p:cNvSpPr>
            <a:spLocks noGrp="1"/>
          </p:cNvSpPr>
          <p:nvPr>
            <p:ph type="sldNum" sz="quarter" idx="12"/>
          </p:nvPr>
        </p:nvSpPr>
        <p:spPr/>
        <p:txBody>
          <a:bodyPr/>
          <a:lstStyle/>
          <a:p>
            <a:fld id="{9A3029B7-FE6B-4680-9049-80E8298A0825}" type="slidenum">
              <a:rPr lang="en-US" smtClean="0"/>
              <a:t>4</a:t>
            </a:fld>
            <a:endParaRPr lang="en-US"/>
          </a:p>
        </p:txBody>
      </p:sp>
      <p:pic>
        <p:nvPicPr>
          <p:cNvPr id="10" name="Picture 9">
            <a:extLst>
              <a:ext uri="{FF2B5EF4-FFF2-40B4-BE49-F238E27FC236}">
                <a16:creationId xmlns:a16="http://schemas.microsoft.com/office/drawing/2014/main" id="{BF885ED0-54BA-8E84-11C7-4CB8B1FAB93C}"/>
              </a:ext>
            </a:extLst>
          </p:cNvPr>
          <p:cNvPicPr>
            <a:picLocks noChangeAspect="1"/>
          </p:cNvPicPr>
          <p:nvPr/>
        </p:nvPicPr>
        <p:blipFill>
          <a:blip r:embed="rId2"/>
          <a:stretch>
            <a:fillRect/>
          </a:stretch>
        </p:blipFill>
        <p:spPr>
          <a:xfrm>
            <a:off x="1066990" y="909248"/>
            <a:ext cx="8077010" cy="5841960"/>
          </a:xfrm>
          <a:prstGeom prst="rect">
            <a:avLst/>
          </a:prstGeom>
        </p:spPr>
      </p:pic>
      <p:sp>
        <p:nvSpPr>
          <p:cNvPr id="3" name="Content Placeholder 5">
            <a:extLst>
              <a:ext uri="{FF2B5EF4-FFF2-40B4-BE49-F238E27FC236}">
                <a16:creationId xmlns:a16="http://schemas.microsoft.com/office/drawing/2014/main" id="{F39E0281-BD4D-B595-A8F6-54F44780853A}"/>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1727072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915E6-EF91-A8C3-2393-79810D7767FC}"/>
              </a:ext>
            </a:extLst>
          </p:cNvPr>
          <p:cNvSpPr>
            <a:spLocks noGrp="1"/>
          </p:cNvSpPr>
          <p:nvPr>
            <p:ph type="title"/>
          </p:nvPr>
        </p:nvSpPr>
        <p:spPr/>
        <p:txBody>
          <a:bodyPr>
            <a:normAutofit/>
          </a:bodyPr>
          <a:lstStyle/>
          <a:p>
            <a:r>
              <a:rPr lang="en-US" sz="2400" b="1"/>
              <a:t>Reference – </a:t>
            </a:r>
            <a:r>
              <a:rPr lang="en-US" sz="2400" b="1" err="1"/>
              <a:t>ArduCam</a:t>
            </a:r>
            <a:r>
              <a:rPr lang="en-US" sz="2400" b="1"/>
              <a:t> Mega 3MP SPI Camera</a:t>
            </a:r>
          </a:p>
        </p:txBody>
      </p:sp>
      <p:graphicFrame>
        <p:nvGraphicFramePr>
          <p:cNvPr id="13" name="Content Placeholder 12">
            <a:extLst>
              <a:ext uri="{FF2B5EF4-FFF2-40B4-BE49-F238E27FC236}">
                <a16:creationId xmlns:a16="http://schemas.microsoft.com/office/drawing/2014/main" id="{548E766E-12F9-4E9F-D956-1BEB96EEB81F}"/>
              </a:ext>
            </a:extLst>
          </p:cNvPr>
          <p:cNvGraphicFramePr>
            <a:graphicFrameLocks noGrp="1"/>
          </p:cNvGraphicFramePr>
          <p:nvPr>
            <p:ph idx="1"/>
            <p:extLst>
              <p:ext uri="{D42A27DB-BD31-4B8C-83A1-F6EECF244321}">
                <p14:modId xmlns:p14="http://schemas.microsoft.com/office/powerpoint/2010/main" val="1115944601"/>
              </p:ext>
            </p:extLst>
          </p:nvPr>
        </p:nvGraphicFramePr>
        <p:xfrm>
          <a:off x="5320389" y="2370920"/>
          <a:ext cx="3471456" cy="4276748"/>
        </p:xfrm>
        <a:graphic>
          <a:graphicData uri="http://schemas.openxmlformats.org/drawingml/2006/table">
            <a:tbl>
              <a:tblPr/>
              <a:tblGrid>
                <a:gridCol w="1735728">
                  <a:extLst>
                    <a:ext uri="{9D8B030D-6E8A-4147-A177-3AD203B41FA5}">
                      <a16:colId xmlns:a16="http://schemas.microsoft.com/office/drawing/2014/main" val="521493715"/>
                    </a:ext>
                  </a:extLst>
                </a:gridCol>
                <a:gridCol w="1735728">
                  <a:extLst>
                    <a:ext uri="{9D8B030D-6E8A-4147-A177-3AD203B41FA5}">
                      <a16:colId xmlns:a16="http://schemas.microsoft.com/office/drawing/2014/main" val="2467703868"/>
                    </a:ext>
                  </a:extLst>
                </a:gridCol>
              </a:tblGrid>
              <a:tr h="145485">
                <a:tc gridSpan="2">
                  <a:txBody>
                    <a:bodyPr/>
                    <a:lstStyle/>
                    <a:p>
                      <a:pPr algn="ctr" fontAlgn="ctr" latinLnBrk="0">
                        <a:buNone/>
                      </a:pPr>
                      <a:r>
                        <a:rPr lang="en-US" sz="700">
                          <a:solidFill>
                            <a:srgbClr val="FFFFFF"/>
                          </a:solidFill>
                          <a:effectLst/>
                          <a:latin typeface="Arial" panose="020B0604020202020204" pitchFamily="34" charset="0"/>
                        </a:rPr>
                        <a:t>Image Sensor</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56565"/>
                    </a:solidFill>
                  </a:tcPr>
                </a:tc>
                <a:tc hMerge="1">
                  <a:txBody>
                    <a:bodyPr/>
                    <a:lstStyle/>
                    <a:p>
                      <a:endParaRPr lang="en-US"/>
                    </a:p>
                  </a:txBody>
                  <a:tcPr/>
                </a:tc>
                <a:extLst>
                  <a:ext uri="{0D108BD9-81ED-4DB2-BD59-A6C34878D82A}">
                    <a16:rowId xmlns:a16="http://schemas.microsoft.com/office/drawing/2014/main" val="476225879"/>
                  </a:ext>
                </a:extLst>
              </a:tr>
              <a:tr h="145485">
                <a:tc>
                  <a:txBody>
                    <a:bodyPr/>
                    <a:lstStyle/>
                    <a:p>
                      <a:pPr algn="ctr" fontAlgn="ctr" latinLnBrk="0">
                        <a:buNone/>
                      </a:pPr>
                      <a:r>
                        <a:rPr lang="en-US" sz="700" b="0">
                          <a:solidFill>
                            <a:srgbClr val="FFFFFF"/>
                          </a:solidFill>
                          <a:effectLst/>
                          <a:latin typeface="Arial" panose="020B0604020202020204" pitchFamily="34" charset="0"/>
                        </a:rPr>
                        <a:t>Product Series</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b="0">
                          <a:solidFill>
                            <a:srgbClr val="FFFFFF"/>
                          </a:solidFill>
                          <a:effectLst/>
                          <a:latin typeface="Arial" panose="020B0604020202020204" pitchFamily="34" charset="0"/>
                        </a:rPr>
                        <a:t>Arducam Mega</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522174126"/>
                  </a:ext>
                </a:extLst>
              </a:tr>
              <a:tr h="145485">
                <a:tc>
                  <a:txBody>
                    <a:bodyPr/>
                    <a:lstStyle/>
                    <a:p>
                      <a:pPr algn="ctr" fontAlgn="ctr" latinLnBrk="0">
                        <a:buNone/>
                      </a:pPr>
                      <a:r>
                        <a:rPr lang="en-US" sz="700">
                          <a:solidFill>
                            <a:srgbClr val="282828"/>
                          </a:solidFill>
                          <a:effectLst/>
                          <a:latin typeface="Arial" panose="020B0604020202020204" pitchFamily="34" charset="0"/>
                        </a:rPr>
                        <a:t>Optical Size</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latinLnBrk="0">
                        <a:buNone/>
                      </a:pPr>
                      <a:r>
                        <a:rPr lang="en-US" sz="700">
                          <a:solidFill>
                            <a:srgbClr val="282828"/>
                          </a:solidFill>
                          <a:effectLst/>
                          <a:latin typeface="Arial" panose="020B0604020202020204" pitchFamily="34" charset="0"/>
                        </a:rPr>
                        <a:t>1/4''</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899080396"/>
                  </a:ext>
                </a:extLst>
              </a:tr>
              <a:tr h="145485">
                <a:tc>
                  <a:txBody>
                    <a:bodyPr/>
                    <a:lstStyle/>
                    <a:p>
                      <a:pPr algn="ctr" fontAlgn="ctr" latinLnBrk="0">
                        <a:buNone/>
                      </a:pPr>
                      <a:r>
                        <a:rPr lang="en-US" sz="700">
                          <a:solidFill>
                            <a:srgbClr val="FFFFFF"/>
                          </a:solidFill>
                          <a:effectLst/>
                          <a:latin typeface="Arial" panose="020B0604020202020204" pitchFamily="34" charset="0"/>
                        </a:rPr>
                        <a:t>Speed</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8Mhz</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3248142413"/>
                  </a:ext>
                </a:extLst>
              </a:tr>
              <a:tr h="145485">
                <a:tc>
                  <a:txBody>
                    <a:bodyPr/>
                    <a:lstStyle/>
                    <a:p>
                      <a:pPr algn="ctr" fontAlgn="ctr" latinLnBrk="0">
                        <a:buNone/>
                      </a:pPr>
                      <a:r>
                        <a:rPr lang="en-US" sz="700">
                          <a:solidFill>
                            <a:srgbClr val="282828"/>
                          </a:solidFill>
                          <a:effectLst/>
                          <a:latin typeface="Arial" panose="020B0604020202020204" pitchFamily="34" charset="0"/>
                        </a:rPr>
                        <a:t>Number of effective pixels</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latinLnBrk="0">
                        <a:buNone/>
                      </a:pPr>
                      <a:r>
                        <a:rPr lang="en-US" sz="700">
                          <a:solidFill>
                            <a:srgbClr val="282828"/>
                          </a:solidFill>
                          <a:effectLst/>
                          <a:latin typeface="Arial" panose="020B0604020202020204" pitchFamily="34" charset="0"/>
                        </a:rPr>
                        <a:t>2048x1536</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25672997"/>
                  </a:ext>
                </a:extLst>
              </a:tr>
              <a:tr h="223806">
                <a:tc>
                  <a:txBody>
                    <a:bodyPr/>
                    <a:lstStyle/>
                    <a:p>
                      <a:pPr algn="ctr" fontAlgn="ctr" latinLnBrk="0">
                        <a:buNone/>
                      </a:pPr>
                      <a:r>
                        <a:rPr lang="en-US" sz="700">
                          <a:solidFill>
                            <a:srgbClr val="FFFFFF"/>
                          </a:solidFill>
                          <a:effectLst/>
                          <a:latin typeface="Arial" panose="020B0604020202020204" pitchFamily="34" charset="0"/>
                        </a:rPr>
                        <a:t>Power Supply</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3.3V/5V</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3608599167"/>
                  </a:ext>
                </a:extLst>
              </a:tr>
              <a:tr h="145485">
                <a:tc>
                  <a:txBody>
                    <a:bodyPr/>
                    <a:lstStyle/>
                    <a:p>
                      <a:pPr algn="ctr" fontAlgn="ctr" latinLnBrk="0">
                        <a:buNone/>
                      </a:pPr>
                      <a:r>
                        <a:rPr lang="en-US" sz="700">
                          <a:solidFill>
                            <a:srgbClr val="282828"/>
                          </a:solidFill>
                          <a:effectLst/>
                          <a:latin typeface="Arial" panose="020B0604020202020204" pitchFamily="34" charset="0"/>
                        </a:rPr>
                        <a:t>Interface</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latinLnBrk="0">
                        <a:buNone/>
                      </a:pPr>
                      <a:r>
                        <a:rPr lang="en-US" sz="700">
                          <a:solidFill>
                            <a:srgbClr val="282828"/>
                          </a:solidFill>
                          <a:effectLst/>
                          <a:latin typeface="Arial" panose="020B0604020202020204" pitchFamily="34" charset="0"/>
                        </a:rPr>
                        <a:t>SPI(4-wire)</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92685379"/>
                  </a:ext>
                </a:extLst>
              </a:tr>
              <a:tr h="145485">
                <a:tc>
                  <a:txBody>
                    <a:bodyPr/>
                    <a:lstStyle/>
                    <a:p>
                      <a:pPr algn="ctr" fontAlgn="ctr" latinLnBrk="0">
                        <a:buNone/>
                      </a:pPr>
                      <a:r>
                        <a:rPr lang="en-US" sz="700">
                          <a:solidFill>
                            <a:srgbClr val="FFFFFF"/>
                          </a:solidFill>
                          <a:effectLst/>
                          <a:latin typeface="Arial" panose="020B0604020202020204" pitchFamily="34" charset="0"/>
                        </a:rPr>
                        <a:t>Shutter Type</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Rolling Shutter</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891988849"/>
                  </a:ext>
                </a:extLst>
              </a:tr>
              <a:tr h="145485">
                <a:tc>
                  <a:txBody>
                    <a:bodyPr/>
                    <a:lstStyle/>
                    <a:p>
                      <a:pPr algn="ctr" fontAlgn="ctr" latinLnBrk="0">
                        <a:buNone/>
                      </a:pPr>
                      <a:r>
                        <a:rPr lang="en-US" sz="700">
                          <a:solidFill>
                            <a:srgbClr val="282828"/>
                          </a:solidFill>
                          <a:effectLst/>
                          <a:latin typeface="Arial" panose="020B0604020202020204" pitchFamily="34" charset="0"/>
                        </a:rPr>
                        <a:t>Color Filter Type</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latinLnBrk="0">
                        <a:buNone/>
                      </a:pPr>
                      <a:r>
                        <a:rPr lang="en-US" sz="700">
                          <a:solidFill>
                            <a:srgbClr val="282828"/>
                          </a:solidFill>
                          <a:effectLst/>
                          <a:latin typeface="Arial" panose="020B0604020202020204" pitchFamily="34" charset="0"/>
                        </a:rPr>
                        <a:t>Color</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14340164"/>
                  </a:ext>
                </a:extLst>
              </a:tr>
              <a:tr h="145485">
                <a:tc>
                  <a:txBody>
                    <a:bodyPr/>
                    <a:lstStyle/>
                    <a:p>
                      <a:pPr algn="ctr" fontAlgn="ctr" latinLnBrk="0">
                        <a:buNone/>
                      </a:pPr>
                      <a:r>
                        <a:rPr lang="en-US" sz="700">
                          <a:solidFill>
                            <a:srgbClr val="FFFFFF"/>
                          </a:solidFill>
                          <a:effectLst/>
                          <a:latin typeface="Arial" panose="020B0604020202020204" pitchFamily="34" charset="0"/>
                        </a:rPr>
                        <a:t>Output Format</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RGB/YUV/JPEG</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2252282181"/>
                  </a:ext>
                </a:extLst>
              </a:tr>
              <a:tr h="145485">
                <a:tc gridSpan="2">
                  <a:txBody>
                    <a:bodyPr/>
                    <a:lstStyle/>
                    <a:p>
                      <a:pPr algn="ctr" fontAlgn="ctr" latinLnBrk="0">
                        <a:buNone/>
                      </a:pPr>
                      <a:r>
                        <a:rPr lang="en-US" sz="700">
                          <a:solidFill>
                            <a:srgbClr val="FFFFFF"/>
                          </a:solidFill>
                          <a:effectLst/>
                          <a:latin typeface="Arial" panose="020B0604020202020204" pitchFamily="34" charset="0"/>
                        </a:rPr>
                        <a:t>Lens</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56565"/>
                    </a:solidFill>
                  </a:tcPr>
                </a:tc>
                <a:tc hMerge="1">
                  <a:txBody>
                    <a:bodyPr/>
                    <a:lstStyle/>
                    <a:p>
                      <a:endParaRPr lang="en-US"/>
                    </a:p>
                  </a:txBody>
                  <a:tcPr/>
                </a:tc>
                <a:extLst>
                  <a:ext uri="{0D108BD9-81ED-4DB2-BD59-A6C34878D82A}">
                    <a16:rowId xmlns:a16="http://schemas.microsoft.com/office/drawing/2014/main" val="181730507"/>
                  </a:ext>
                </a:extLst>
              </a:tr>
              <a:tr h="145485">
                <a:tc>
                  <a:txBody>
                    <a:bodyPr/>
                    <a:lstStyle/>
                    <a:p>
                      <a:pPr algn="ctr" fontAlgn="ctr" latinLnBrk="0">
                        <a:buNone/>
                      </a:pPr>
                      <a:r>
                        <a:rPr lang="en-US" sz="700">
                          <a:solidFill>
                            <a:srgbClr val="FFFFFF"/>
                          </a:solidFill>
                          <a:effectLst/>
                          <a:latin typeface="Arial" panose="020B0604020202020204" pitchFamily="34" charset="0"/>
                        </a:rPr>
                        <a:t>Lens Mount</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M12 Mount</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2397070739"/>
                  </a:ext>
                </a:extLst>
              </a:tr>
              <a:tr h="145485">
                <a:tc>
                  <a:txBody>
                    <a:bodyPr/>
                    <a:lstStyle/>
                    <a:p>
                      <a:pPr algn="ctr" fontAlgn="ctr" latinLnBrk="0">
                        <a:buNone/>
                      </a:pPr>
                      <a:r>
                        <a:rPr lang="en-US" sz="700">
                          <a:solidFill>
                            <a:srgbClr val="282828"/>
                          </a:solidFill>
                          <a:effectLst/>
                          <a:latin typeface="Arial" panose="020B0604020202020204" pitchFamily="34" charset="0"/>
                        </a:rPr>
                        <a:t>Field of View</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latinLnBrk="0">
                        <a:buNone/>
                      </a:pPr>
                      <a:r>
                        <a:rPr lang="pt-BR" sz="700">
                          <a:solidFill>
                            <a:srgbClr val="282828"/>
                          </a:solidFill>
                          <a:effectLst/>
                          <a:latin typeface="Arial" panose="020B0604020202020204" pitchFamily="34" charset="0"/>
                        </a:rPr>
                        <a:t>90°(D)x75°(H)x56.4°(V)</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86804244"/>
                  </a:ext>
                </a:extLst>
              </a:tr>
              <a:tr h="145485">
                <a:tc>
                  <a:txBody>
                    <a:bodyPr/>
                    <a:lstStyle/>
                    <a:p>
                      <a:pPr algn="ctr" fontAlgn="ctr" latinLnBrk="0">
                        <a:buNone/>
                      </a:pPr>
                      <a:r>
                        <a:rPr lang="en-US" sz="700">
                          <a:solidFill>
                            <a:srgbClr val="FFFFFF"/>
                          </a:solidFill>
                          <a:effectLst/>
                          <a:latin typeface="Arial" panose="020B0604020202020204" pitchFamily="34" charset="0"/>
                        </a:rPr>
                        <a:t>F.NO</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F2.8</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236685437"/>
                  </a:ext>
                </a:extLst>
              </a:tr>
              <a:tr h="145485">
                <a:tc>
                  <a:txBody>
                    <a:bodyPr/>
                    <a:lstStyle/>
                    <a:p>
                      <a:pPr algn="ctr" fontAlgn="ctr" latinLnBrk="0">
                        <a:buNone/>
                      </a:pPr>
                      <a:r>
                        <a:rPr lang="en-US" sz="700">
                          <a:solidFill>
                            <a:srgbClr val="282828"/>
                          </a:solidFill>
                          <a:effectLst/>
                          <a:latin typeface="Arial" panose="020B0604020202020204" pitchFamily="34" charset="0"/>
                        </a:rPr>
                        <a:t>EFL</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latinLnBrk="0">
                        <a:buNone/>
                      </a:pPr>
                      <a:r>
                        <a:rPr lang="en-US" sz="700">
                          <a:solidFill>
                            <a:srgbClr val="282828"/>
                          </a:solidFill>
                          <a:effectLst/>
                          <a:latin typeface="Arial" panose="020B0604020202020204" pitchFamily="34" charset="0"/>
                        </a:rPr>
                        <a:t>2.8mm</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3626563"/>
                  </a:ext>
                </a:extLst>
              </a:tr>
              <a:tr h="145485">
                <a:tc>
                  <a:txBody>
                    <a:bodyPr/>
                    <a:lstStyle/>
                    <a:p>
                      <a:pPr algn="ctr" fontAlgn="ctr" latinLnBrk="0">
                        <a:buNone/>
                      </a:pPr>
                      <a:r>
                        <a:rPr lang="en-US" sz="700">
                          <a:solidFill>
                            <a:srgbClr val="FFFFFF"/>
                          </a:solidFill>
                          <a:effectLst/>
                          <a:latin typeface="Arial" panose="020B0604020202020204" pitchFamily="34" charset="0"/>
                        </a:rPr>
                        <a:t>BFL</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2.6mm</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3166209379"/>
                  </a:ext>
                </a:extLst>
              </a:tr>
              <a:tr h="184311">
                <a:tc>
                  <a:txBody>
                    <a:bodyPr/>
                    <a:lstStyle/>
                    <a:p>
                      <a:pPr algn="ctr" fontAlgn="ctr" latinLnBrk="0">
                        <a:buNone/>
                      </a:pPr>
                      <a:r>
                        <a:rPr lang="en-US" sz="700">
                          <a:solidFill>
                            <a:srgbClr val="282828"/>
                          </a:solidFill>
                          <a:effectLst/>
                          <a:latin typeface="Arial" panose="020B0604020202020204" pitchFamily="34" charset="0"/>
                        </a:rPr>
                        <a:t>IR Sensitivity</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latinLnBrk="0">
                        <a:buNone/>
                      </a:pPr>
                      <a:r>
                        <a:rPr lang="en-US" sz="700">
                          <a:solidFill>
                            <a:srgbClr val="282828"/>
                          </a:solidFill>
                          <a:effectLst/>
                          <a:latin typeface="Arial" panose="020B0604020202020204" pitchFamily="34" charset="0"/>
                        </a:rPr>
                        <a:t>Integral IR-cut filter, visible light only</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74390568"/>
                  </a:ext>
                </a:extLst>
              </a:tr>
              <a:tr h="145485">
                <a:tc>
                  <a:txBody>
                    <a:bodyPr/>
                    <a:lstStyle/>
                    <a:p>
                      <a:pPr algn="ctr" fontAlgn="ctr" latinLnBrk="0">
                        <a:buNone/>
                      </a:pPr>
                      <a:r>
                        <a:rPr lang="en-US" sz="700">
                          <a:solidFill>
                            <a:srgbClr val="FFFFFF"/>
                          </a:solidFill>
                          <a:effectLst/>
                          <a:latin typeface="Arial" panose="020B0604020202020204" pitchFamily="34" charset="0"/>
                        </a:rPr>
                        <a:t>Focus Distance</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0.6m-INF</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1663486465"/>
                  </a:ext>
                </a:extLst>
              </a:tr>
              <a:tr h="145485">
                <a:tc gridSpan="2">
                  <a:txBody>
                    <a:bodyPr/>
                    <a:lstStyle/>
                    <a:p>
                      <a:pPr algn="ctr" fontAlgn="ctr" latinLnBrk="0">
                        <a:buNone/>
                      </a:pPr>
                      <a:r>
                        <a:rPr lang="en-US" sz="700">
                          <a:solidFill>
                            <a:srgbClr val="FFFFFF"/>
                          </a:solidFill>
                          <a:effectLst/>
                          <a:latin typeface="Arial" panose="020B0604020202020204" pitchFamily="34" charset="0"/>
                        </a:rPr>
                        <a:t>Electrical and Mechanical</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56565"/>
                    </a:solidFill>
                  </a:tcPr>
                </a:tc>
                <a:tc hMerge="1">
                  <a:txBody>
                    <a:bodyPr/>
                    <a:lstStyle/>
                    <a:p>
                      <a:endParaRPr lang="en-US"/>
                    </a:p>
                  </a:txBody>
                  <a:tcPr/>
                </a:tc>
                <a:extLst>
                  <a:ext uri="{0D108BD9-81ED-4DB2-BD59-A6C34878D82A}">
                    <a16:rowId xmlns:a16="http://schemas.microsoft.com/office/drawing/2014/main" val="2516821760"/>
                  </a:ext>
                </a:extLst>
              </a:tr>
              <a:tr h="184311">
                <a:tc>
                  <a:txBody>
                    <a:bodyPr/>
                    <a:lstStyle/>
                    <a:p>
                      <a:pPr algn="ctr" fontAlgn="ctr" latinLnBrk="0">
                        <a:buNone/>
                      </a:pPr>
                      <a:r>
                        <a:rPr lang="en-US" sz="700">
                          <a:solidFill>
                            <a:srgbClr val="FFFFFF"/>
                          </a:solidFill>
                          <a:effectLst/>
                          <a:latin typeface="Arial" panose="020B0604020202020204" pitchFamily="34" charset="0"/>
                        </a:rPr>
                        <a:t>Power Consumption(idle/Working)</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max 0.3w/1.58w</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4167659517"/>
                  </a:ext>
                </a:extLst>
              </a:tr>
              <a:tr h="145485">
                <a:tc>
                  <a:txBody>
                    <a:bodyPr/>
                    <a:lstStyle/>
                    <a:p>
                      <a:pPr algn="ctr" fontAlgn="ctr" latinLnBrk="0">
                        <a:buNone/>
                      </a:pPr>
                      <a:r>
                        <a:rPr lang="en-US" sz="700">
                          <a:solidFill>
                            <a:srgbClr val="282828"/>
                          </a:solidFill>
                          <a:effectLst/>
                          <a:latin typeface="Arial" panose="020B0604020202020204" pitchFamily="34" charset="0"/>
                        </a:rPr>
                        <a:t>Electric Current (Idle/Working)</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latinLnBrk="0">
                        <a:buNone/>
                      </a:pPr>
                      <a:r>
                        <a:rPr lang="en-US" sz="700">
                          <a:solidFill>
                            <a:srgbClr val="282828"/>
                          </a:solidFill>
                          <a:effectLst/>
                          <a:latin typeface="Arial" panose="020B0604020202020204" pitchFamily="34" charset="0"/>
                        </a:rPr>
                        <a:t>max 69mA/317mA</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841337021"/>
                  </a:ext>
                </a:extLst>
              </a:tr>
              <a:tr h="145485">
                <a:tc>
                  <a:txBody>
                    <a:bodyPr/>
                    <a:lstStyle/>
                    <a:p>
                      <a:pPr algn="ctr" fontAlgn="ctr" latinLnBrk="0">
                        <a:buNone/>
                      </a:pPr>
                      <a:r>
                        <a:rPr lang="en-US" sz="700">
                          <a:solidFill>
                            <a:srgbClr val="FFFFFF"/>
                          </a:solidFill>
                          <a:effectLst/>
                          <a:latin typeface="Arial" panose="020B0604020202020204" pitchFamily="34" charset="0"/>
                        </a:rPr>
                        <a:t>Connector No.</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XH2.54-6P</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1680699980"/>
                  </a:ext>
                </a:extLst>
              </a:tr>
              <a:tr h="145485">
                <a:tc>
                  <a:txBody>
                    <a:bodyPr/>
                    <a:lstStyle/>
                    <a:p>
                      <a:pPr algn="ctr" fontAlgn="ctr" latinLnBrk="0">
                        <a:buNone/>
                      </a:pPr>
                      <a:r>
                        <a:rPr lang="en-US" sz="700">
                          <a:solidFill>
                            <a:srgbClr val="282828"/>
                          </a:solidFill>
                          <a:effectLst/>
                          <a:latin typeface="Arial" panose="020B0604020202020204" pitchFamily="34" charset="0"/>
                        </a:rPr>
                        <a:t>Overall Size</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latinLnBrk="0">
                        <a:buNone/>
                      </a:pPr>
                      <a:r>
                        <a:rPr lang="en-US" sz="700">
                          <a:solidFill>
                            <a:srgbClr val="282828"/>
                          </a:solidFill>
                          <a:effectLst/>
                          <a:latin typeface="Arial" panose="020B0604020202020204" pitchFamily="34" charset="0"/>
                        </a:rPr>
                        <a:t>33×33×35mm</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61235967"/>
                  </a:ext>
                </a:extLst>
              </a:tr>
            </a:tbl>
          </a:graphicData>
        </a:graphic>
      </p:graphicFrame>
      <p:sp>
        <p:nvSpPr>
          <p:cNvPr id="4" name="Footer Placeholder 3">
            <a:extLst>
              <a:ext uri="{FF2B5EF4-FFF2-40B4-BE49-F238E27FC236}">
                <a16:creationId xmlns:a16="http://schemas.microsoft.com/office/drawing/2014/main" id="{9E0CE545-E8A8-111D-D957-89A92CC0A600}"/>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8674337B-17F8-1EE1-A9F2-49D50DA21850}"/>
              </a:ext>
            </a:extLst>
          </p:cNvPr>
          <p:cNvSpPr>
            <a:spLocks noGrp="1"/>
          </p:cNvSpPr>
          <p:nvPr>
            <p:ph type="sldNum" sz="quarter" idx="12"/>
          </p:nvPr>
        </p:nvSpPr>
        <p:spPr/>
        <p:txBody>
          <a:bodyPr/>
          <a:lstStyle/>
          <a:p>
            <a:fld id="{9A3029B7-FE6B-4680-9049-80E8298A0825}" type="slidenum">
              <a:rPr lang="en-US" smtClean="0"/>
              <a:t>5</a:t>
            </a:fld>
            <a:endParaRPr lang="en-US"/>
          </a:p>
        </p:txBody>
      </p:sp>
      <p:pic>
        <p:nvPicPr>
          <p:cNvPr id="12" name="Picture 11">
            <a:extLst>
              <a:ext uri="{FF2B5EF4-FFF2-40B4-BE49-F238E27FC236}">
                <a16:creationId xmlns:a16="http://schemas.microsoft.com/office/drawing/2014/main" id="{274FFE06-C184-2B16-DB98-05BE5309AAC3}"/>
              </a:ext>
            </a:extLst>
          </p:cNvPr>
          <p:cNvPicPr>
            <a:picLocks noChangeAspect="1"/>
          </p:cNvPicPr>
          <p:nvPr/>
        </p:nvPicPr>
        <p:blipFill>
          <a:blip r:embed="rId2"/>
          <a:srcRect l="20381" t="15271" r="21604" b="7543"/>
          <a:stretch>
            <a:fillRect/>
          </a:stretch>
        </p:blipFill>
        <p:spPr>
          <a:xfrm>
            <a:off x="3180496" y="3783857"/>
            <a:ext cx="1760220" cy="1878699"/>
          </a:xfrm>
          <a:prstGeom prst="rect">
            <a:avLst/>
          </a:prstGeom>
        </p:spPr>
      </p:pic>
      <p:sp>
        <p:nvSpPr>
          <p:cNvPr id="15" name="TextBox 14">
            <a:extLst>
              <a:ext uri="{FF2B5EF4-FFF2-40B4-BE49-F238E27FC236}">
                <a16:creationId xmlns:a16="http://schemas.microsoft.com/office/drawing/2014/main" id="{26CE2876-ED04-51FF-E040-C107D19E25E4}"/>
              </a:ext>
            </a:extLst>
          </p:cNvPr>
          <p:cNvSpPr txBox="1"/>
          <p:nvPr/>
        </p:nvSpPr>
        <p:spPr>
          <a:xfrm>
            <a:off x="1066991" y="2057141"/>
            <a:ext cx="3977449" cy="1600438"/>
          </a:xfrm>
          <a:prstGeom prst="rect">
            <a:avLst/>
          </a:prstGeom>
          <a:noFill/>
        </p:spPr>
        <p:txBody>
          <a:bodyPr wrap="square">
            <a:spAutoFit/>
          </a:bodyPr>
          <a:lstStyle/>
          <a:p>
            <a:pPr algn="l" latinLnBrk="0">
              <a:buNone/>
            </a:pPr>
            <a:r>
              <a:rPr lang="en-US" sz="1400" b="1" i="0">
                <a:effectLst/>
                <a:latin typeface="Segoe UI" panose="020B0502040204020203" pitchFamily="34" charset="0"/>
                <a:cs typeface="Segoe UI" panose="020B0502040204020203" pitchFamily="34" charset="0"/>
              </a:rPr>
              <a:t>Documentation</a:t>
            </a:r>
          </a:p>
          <a:p>
            <a:pPr marL="285750" indent="-285750" algn="l" latinLnBrk="0">
              <a:buFont typeface="Arial" panose="020B0604020202020204" pitchFamily="34" charset="0"/>
              <a:buChar char="•"/>
            </a:pPr>
            <a:r>
              <a:rPr lang="en-US" sz="1400">
                <a:solidFill>
                  <a:srgbClr val="0404FF"/>
                </a:solidFill>
                <a:latin typeface="Segoe UI" panose="020B0502040204020203" pitchFamily="34" charset="0"/>
                <a:cs typeface="Segoe UI" panose="020B0502040204020203" pitchFamily="34" charset="0"/>
                <a:hlinkClick r:id="rId3"/>
              </a:rPr>
              <a:t>Product Page</a:t>
            </a:r>
            <a:endParaRPr lang="en-US" sz="1400" b="0" i="0">
              <a:effectLst/>
              <a:latin typeface="Segoe UI" panose="020B0502040204020203" pitchFamily="34" charset="0"/>
              <a:cs typeface="Segoe UI" panose="020B0502040204020203" pitchFamily="34" charset="0"/>
              <a:hlinkClick r:id="rId4">
                <a:extLst>
                  <a:ext uri="{A12FA001-AC4F-418D-AE19-62706E023703}">
                    <ahyp:hlinkClr xmlns:ahyp="http://schemas.microsoft.com/office/drawing/2018/hyperlinkcolor" val="tx"/>
                  </a:ext>
                </a:extLst>
              </a:hlinkClick>
            </a:endParaRPr>
          </a:p>
          <a:p>
            <a:pPr marL="285750" indent="-285750" algn="l" latinLnBrk="0">
              <a:buFont typeface="Arial" panose="020B0604020202020204" pitchFamily="34" charset="0"/>
              <a:buChar char="•"/>
            </a:pPr>
            <a:r>
              <a:rPr lang="en-US" sz="1400" b="0" i="0">
                <a:solidFill>
                  <a:srgbClr val="467886"/>
                </a:solidFill>
                <a:effectLst/>
                <a:latin typeface="Segoe UI" panose="020B0502040204020203" pitchFamily="34" charset="0"/>
                <a:cs typeface="Segoe UI" panose="020B0502040204020203" pitchFamily="34" charset="0"/>
                <a:hlinkClick r:id="rId4">
                  <a:extLst>
                    <a:ext uri="{A12FA001-AC4F-418D-AE19-62706E023703}">
                      <ahyp:hlinkClr xmlns:ahyp="http://schemas.microsoft.com/office/drawing/2018/hyperlinkcolor" val="tx"/>
                    </a:ext>
                  </a:extLst>
                </a:hlinkClick>
              </a:rPr>
              <a:t>Arducam Mega SPI Camera</a:t>
            </a:r>
            <a:endParaRPr lang="en-US" sz="1400" b="0" i="0">
              <a:solidFill>
                <a:srgbClr val="4D4D4D"/>
              </a:solidFill>
              <a:effectLst/>
              <a:latin typeface="Segoe UI" panose="020B0502040204020203" pitchFamily="34" charset="0"/>
              <a:cs typeface="Segoe UI" panose="020B0502040204020203" pitchFamily="34" charset="0"/>
            </a:endParaRPr>
          </a:p>
          <a:p>
            <a:pPr marL="285750" indent="-285750" algn="l" latinLnBrk="0">
              <a:buFont typeface="Arial" panose="020B0604020202020204" pitchFamily="34" charset="0"/>
              <a:buChar char="•"/>
            </a:pPr>
            <a:r>
              <a:rPr lang="en-US" sz="1400" b="0" i="0">
                <a:solidFill>
                  <a:srgbClr val="0404FF"/>
                </a:solidFill>
                <a:effectLst/>
                <a:latin typeface="Segoe UI" panose="020B0502040204020203" pitchFamily="34" charset="0"/>
                <a:cs typeface="Segoe UI" panose="020B0502040204020203" pitchFamily="34" charset="0"/>
                <a:hlinkClick r:id="rId5"/>
              </a:rPr>
              <a:t>Quick Start for Mega Camera</a:t>
            </a:r>
            <a:endParaRPr lang="en-US" sz="1400" b="0" i="0">
              <a:solidFill>
                <a:srgbClr val="4D4D4D"/>
              </a:solidFill>
              <a:effectLst/>
              <a:latin typeface="Segoe UI" panose="020B0502040204020203" pitchFamily="34" charset="0"/>
              <a:cs typeface="Segoe UI" panose="020B0502040204020203" pitchFamily="34" charset="0"/>
            </a:endParaRPr>
          </a:p>
          <a:p>
            <a:pPr marL="285750" indent="-285750" algn="l" latinLnBrk="0">
              <a:buFont typeface="Arial" panose="020B0604020202020204" pitchFamily="34" charset="0"/>
              <a:buChar char="•"/>
            </a:pPr>
            <a:r>
              <a:rPr lang="en-US" sz="1400" b="0" i="0">
                <a:solidFill>
                  <a:srgbClr val="0404FF"/>
                </a:solidFill>
                <a:effectLst/>
                <a:latin typeface="Segoe UI" panose="020B0502040204020203" pitchFamily="34" charset="0"/>
                <a:cs typeface="Segoe UI" panose="020B0502040204020203" pitchFamily="34" charset="0"/>
                <a:hlinkClick r:id="rId6"/>
              </a:rPr>
              <a:t>Mega SPI Camera Application Note</a:t>
            </a:r>
            <a:endParaRPr lang="en-US" sz="1400" b="0" i="0">
              <a:solidFill>
                <a:srgbClr val="4D4D4D"/>
              </a:solidFill>
              <a:effectLst/>
              <a:latin typeface="Segoe UI" panose="020B0502040204020203" pitchFamily="34" charset="0"/>
              <a:cs typeface="Segoe UI" panose="020B0502040204020203" pitchFamily="34" charset="0"/>
            </a:endParaRPr>
          </a:p>
          <a:p>
            <a:pPr marL="285750" indent="-285750" algn="l" latinLnBrk="0">
              <a:buFont typeface="Arial" panose="020B0604020202020204" pitchFamily="34" charset="0"/>
              <a:buChar char="•"/>
            </a:pPr>
            <a:r>
              <a:rPr lang="en-US" sz="1400" b="0" i="0">
                <a:solidFill>
                  <a:srgbClr val="0404FF"/>
                </a:solidFill>
                <a:effectLst/>
                <a:latin typeface="Segoe UI" panose="020B0502040204020203" pitchFamily="34" charset="0"/>
                <a:cs typeface="Segoe UI" panose="020B0502040204020203" pitchFamily="34" charset="0"/>
                <a:hlinkClick r:id="rId7"/>
              </a:rPr>
              <a:t>Troubleshooting</a:t>
            </a:r>
            <a:endParaRPr lang="en-US" sz="1400" b="0" i="0">
              <a:solidFill>
                <a:srgbClr val="0404FF"/>
              </a:solidFill>
              <a:effectLst/>
              <a:latin typeface="Segoe UI" panose="020B0502040204020203" pitchFamily="34" charset="0"/>
              <a:cs typeface="Segoe UI" panose="020B0502040204020203" pitchFamily="34" charset="0"/>
            </a:endParaRPr>
          </a:p>
          <a:p>
            <a:pPr marL="285750" indent="-285750" algn="l" latinLnBrk="0">
              <a:buFont typeface="Arial" panose="020B0604020202020204" pitchFamily="34" charset="0"/>
              <a:buChar char="•"/>
            </a:pPr>
            <a:r>
              <a:rPr lang="en-US" sz="1400" err="1">
                <a:solidFill>
                  <a:srgbClr val="0404FF"/>
                </a:solidFill>
                <a:latin typeface="Segoe UI" panose="020B0502040204020203" pitchFamily="34" charset="0"/>
                <a:cs typeface="Segoe UI" panose="020B0502040204020203" pitchFamily="34" charset="0"/>
                <a:hlinkClick r:id="rId8"/>
              </a:rPr>
              <a:t>ArduCam</a:t>
            </a:r>
            <a:r>
              <a:rPr lang="en-US" sz="1400">
                <a:solidFill>
                  <a:srgbClr val="0404FF"/>
                </a:solidFill>
                <a:latin typeface="Segoe UI" panose="020B0502040204020203" pitchFamily="34" charset="0"/>
                <a:cs typeface="Segoe UI" panose="020B0502040204020203" pitchFamily="34" charset="0"/>
                <a:hlinkClick r:id="rId8"/>
              </a:rPr>
              <a:t> Raspberry Pi Pico Documentation</a:t>
            </a:r>
            <a:endParaRPr lang="en-US" sz="1400" b="0" i="0">
              <a:solidFill>
                <a:srgbClr val="4D4D4D"/>
              </a:solidFill>
              <a:effectLst/>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049A65F3-5C41-D75D-4305-C7A698AE9D7C}"/>
              </a:ext>
            </a:extLst>
          </p:cNvPr>
          <p:cNvSpPr txBox="1"/>
          <p:nvPr/>
        </p:nvSpPr>
        <p:spPr>
          <a:xfrm>
            <a:off x="1117184" y="880914"/>
            <a:ext cx="3823532" cy="1169551"/>
          </a:xfrm>
          <a:prstGeom prst="rect">
            <a:avLst/>
          </a:prstGeom>
          <a:noFill/>
        </p:spPr>
        <p:txBody>
          <a:bodyPr wrap="square" rtlCol="0">
            <a:spAutoFit/>
          </a:bodyPr>
          <a:lstStyle/>
          <a:p>
            <a:r>
              <a:rPr lang="en-US" sz="1400" b="1" dirty="0" err="1">
                <a:latin typeface="Segoe UI" panose="020B0502040204020203" pitchFamily="34" charset="0"/>
                <a:cs typeface="Segoe UI" panose="020B0502040204020203" pitchFamily="34" charset="0"/>
              </a:rPr>
              <a:t>KestrelSAT’s</a:t>
            </a:r>
            <a:r>
              <a:rPr lang="en-US" sz="1400" b="1" dirty="0">
                <a:latin typeface="Segoe UI" panose="020B0502040204020203" pitchFamily="34" charset="0"/>
                <a:cs typeface="Segoe UI" panose="020B0502040204020203" pitchFamily="34" charset="0"/>
              </a:rPr>
              <a:t> Payload is a 3MP SPI camera made by </a:t>
            </a:r>
            <a:r>
              <a:rPr lang="en-US" sz="1400" b="1" dirty="0" err="1">
                <a:latin typeface="Segoe UI" panose="020B0502040204020203" pitchFamily="34" charset="0"/>
                <a:cs typeface="Segoe UI" panose="020B0502040204020203" pitchFamily="34" charset="0"/>
              </a:rPr>
              <a:t>ArduCam</a:t>
            </a:r>
            <a:r>
              <a:rPr lang="en-US" sz="1400" b="1" dirty="0">
                <a:latin typeface="Segoe UI" panose="020B0502040204020203" pitchFamily="34" charset="0"/>
                <a:cs typeface="Segoe UI" panose="020B0502040204020203" pitchFamily="34" charset="0"/>
              </a:rPr>
              <a:t> (SKU: B0434). </a:t>
            </a:r>
            <a:endParaRPr lang="en-US" sz="1400" dirty="0">
              <a:latin typeface="Segoe UI" panose="020B0502040204020203" pitchFamily="34" charset="0"/>
              <a:cs typeface="Segoe UI" panose="020B0502040204020203" pitchFamily="34" charset="0"/>
            </a:endParaRPr>
          </a:p>
          <a:p>
            <a:r>
              <a:rPr lang="en-US" sz="1400" dirty="0">
                <a:latin typeface="Segoe UI" panose="020B0502040204020203" pitchFamily="34" charset="0"/>
                <a:cs typeface="Segoe UI" panose="020B0502040204020203" pitchFamily="34" charset="0"/>
              </a:rPr>
              <a:t>You will connect the camera to </a:t>
            </a:r>
            <a:r>
              <a:rPr lang="en-US" sz="1400" dirty="0" err="1">
                <a:latin typeface="Segoe UI" panose="020B0502040204020203" pitchFamily="34" charset="0"/>
                <a:cs typeface="Segoe UI" panose="020B0502040204020203" pitchFamily="34" charset="0"/>
              </a:rPr>
              <a:t>KestrelSAT’s</a:t>
            </a:r>
            <a:r>
              <a:rPr lang="en-US" sz="1400" dirty="0">
                <a:latin typeface="Segoe UI" panose="020B0502040204020203" pitchFamily="34" charset="0"/>
                <a:cs typeface="Segoe UI" panose="020B0502040204020203" pitchFamily="34" charset="0"/>
              </a:rPr>
              <a:t> MCU via SPI (see next slide) and control it over a USB connection. </a:t>
            </a:r>
          </a:p>
        </p:txBody>
      </p:sp>
      <p:pic>
        <p:nvPicPr>
          <p:cNvPr id="18" name="Picture 17">
            <a:extLst>
              <a:ext uri="{FF2B5EF4-FFF2-40B4-BE49-F238E27FC236}">
                <a16:creationId xmlns:a16="http://schemas.microsoft.com/office/drawing/2014/main" id="{7CC68D1B-010B-7974-05BB-B1068A426D53}"/>
              </a:ext>
            </a:extLst>
          </p:cNvPr>
          <p:cNvPicPr>
            <a:picLocks noChangeAspect="1"/>
          </p:cNvPicPr>
          <p:nvPr/>
        </p:nvPicPr>
        <p:blipFill>
          <a:blip r:embed="rId9"/>
          <a:stretch>
            <a:fillRect/>
          </a:stretch>
        </p:blipFill>
        <p:spPr>
          <a:xfrm>
            <a:off x="1172985" y="4000640"/>
            <a:ext cx="1514969" cy="1613442"/>
          </a:xfrm>
          <a:prstGeom prst="rect">
            <a:avLst/>
          </a:prstGeom>
        </p:spPr>
      </p:pic>
      <p:pic>
        <p:nvPicPr>
          <p:cNvPr id="22" name="Picture 21">
            <a:extLst>
              <a:ext uri="{FF2B5EF4-FFF2-40B4-BE49-F238E27FC236}">
                <a16:creationId xmlns:a16="http://schemas.microsoft.com/office/drawing/2014/main" id="{A5CD9E99-CDBF-58CD-38CA-10357553D024}"/>
              </a:ext>
            </a:extLst>
          </p:cNvPr>
          <p:cNvPicPr>
            <a:picLocks noChangeAspect="1"/>
          </p:cNvPicPr>
          <p:nvPr/>
        </p:nvPicPr>
        <p:blipFill>
          <a:blip r:embed="rId10"/>
          <a:stretch>
            <a:fillRect/>
          </a:stretch>
        </p:blipFill>
        <p:spPr>
          <a:xfrm>
            <a:off x="1168819" y="5665450"/>
            <a:ext cx="3012094" cy="395030"/>
          </a:xfrm>
          <a:prstGeom prst="rect">
            <a:avLst/>
          </a:prstGeom>
        </p:spPr>
      </p:pic>
      <p:pic>
        <p:nvPicPr>
          <p:cNvPr id="24" name="Picture 23">
            <a:extLst>
              <a:ext uri="{FF2B5EF4-FFF2-40B4-BE49-F238E27FC236}">
                <a16:creationId xmlns:a16="http://schemas.microsoft.com/office/drawing/2014/main" id="{9F598740-6A70-DA4D-BF00-2C98F87B0D58}"/>
              </a:ext>
            </a:extLst>
          </p:cNvPr>
          <p:cNvPicPr>
            <a:picLocks noChangeAspect="1"/>
          </p:cNvPicPr>
          <p:nvPr/>
        </p:nvPicPr>
        <p:blipFill>
          <a:blip r:embed="rId11"/>
          <a:stretch>
            <a:fillRect/>
          </a:stretch>
        </p:blipFill>
        <p:spPr>
          <a:xfrm>
            <a:off x="1170935" y="6111848"/>
            <a:ext cx="3034038" cy="384056"/>
          </a:xfrm>
          <a:prstGeom prst="rect">
            <a:avLst/>
          </a:prstGeom>
        </p:spPr>
      </p:pic>
      <p:sp>
        <p:nvSpPr>
          <p:cNvPr id="25" name="Content Placeholder 5">
            <a:extLst>
              <a:ext uri="{FF2B5EF4-FFF2-40B4-BE49-F238E27FC236}">
                <a16:creationId xmlns:a16="http://schemas.microsoft.com/office/drawing/2014/main" id="{205A237A-9EB6-8EF8-ACA3-85D1C16716E4}"/>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pic>
        <p:nvPicPr>
          <p:cNvPr id="6" name="Picture 5">
            <a:extLst>
              <a:ext uri="{FF2B5EF4-FFF2-40B4-BE49-F238E27FC236}">
                <a16:creationId xmlns:a16="http://schemas.microsoft.com/office/drawing/2014/main" id="{39A8BAEF-D8B7-A732-399F-5BCCA257AB8A}"/>
              </a:ext>
            </a:extLst>
          </p:cNvPr>
          <p:cNvPicPr>
            <a:picLocks noChangeAspect="1"/>
          </p:cNvPicPr>
          <p:nvPr/>
        </p:nvPicPr>
        <p:blipFill>
          <a:blip r:embed="rId12"/>
          <a:stretch>
            <a:fillRect/>
          </a:stretch>
        </p:blipFill>
        <p:spPr>
          <a:xfrm>
            <a:off x="5010341" y="965712"/>
            <a:ext cx="3705742" cy="1352739"/>
          </a:xfrm>
          <a:prstGeom prst="rect">
            <a:avLst/>
          </a:prstGeom>
        </p:spPr>
      </p:pic>
    </p:spTree>
    <p:extLst>
      <p:ext uri="{BB962C8B-B14F-4D97-AF65-F5344CB8AC3E}">
        <p14:creationId xmlns:p14="http://schemas.microsoft.com/office/powerpoint/2010/main" val="2678493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B849A3-732A-7D0F-976E-E8C5124CFDE2}"/>
              </a:ext>
            </a:extLst>
          </p:cNvPr>
          <p:cNvSpPr>
            <a:spLocks noGrp="1"/>
          </p:cNvSpPr>
          <p:nvPr>
            <p:ph idx="1"/>
          </p:nvPr>
        </p:nvSpPr>
        <p:spPr>
          <a:xfrm>
            <a:off x="1066801" y="901726"/>
            <a:ext cx="4438650" cy="5563380"/>
          </a:xfrm>
        </p:spPr>
        <p:txBody>
          <a:bodyPr>
            <a:normAutofit/>
          </a:bodyPr>
          <a:lstStyle/>
          <a:p>
            <a:pPr marL="0" indent="0">
              <a:buNone/>
            </a:pPr>
            <a:r>
              <a:rPr lang="en-US" sz="1600"/>
              <a:t>SPI is a </a:t>
            </a:r>
            <a:r>
              <a:rPr lang="en-US" sz="1600" b="1"/>
              <a:t>synchronous serial communication protocol</a:t>
            </a:r>
            <a:r>
              <a:rPr lang="en-US" sz="1600"/>
              <a:t> used to transfer data between a microcontroller (the </a:t>
            </a:r>
            <a:r>
              <a:rPr lang="en-US" sz="1600" b="1"/>
              <a:t>master</a:t>
            </a:r>
            <a:r>
              <a:rPr lang="en-US" sz="1600"/>
              <a:t>) and one or more peripheral devices (the </a:t>
            </a:r>
            <a:r>
              <a:rPr lang="en-US" sz="1600" b="1"/>
              <a:t>slaves</a:t>
            </a:r>
            <a:r>
              <a:rPr lang="en-US" sz="1600"/>
              <a:t>) at high speed.</a:t>
            </a:r>
          </a:p>
          <a:p>
            <a:pPr marL="0" indent="0">
              <a:buNone/>
            </a:pPr>
            <a:endParaRPr lang="en-US" sz="1200" b="1"/>
          </a:p>
          <a:p>
            <a:pPr marL="0" indent="0">
              <a:buNone/>
            </a:pPr>
            <a:r>
              <a:rPr lang="en-US" sz="1200" b="1"/>
              <a:t>Features</a:t>
            </a:r>
            <a:r>
              <a:rPr lang="en-US" sz="1200"/>
              <a:t>:</a:t>
            </a:r>
          </a:p>
          <a:p>
            <a:r>
              <a:rPr lang="en-US" sz="1200" b="1"/>
              <a:t>Full-duplex: </a:t>
            </a:r>
            <a:r>
              <a:rPr lang="en-US" sz="1200"/>
              <a:t>Data can be sent and received simultaneously.</a:t>
            </a:r>
          </a:p>
          <a:p>
            <a:r>
              <a:rPr lang="en-US" sz="1200" b="1"/>
              <a:t>High-speed: </a:t>
            </a:r>
            <a:r>
              <a:rPr lang="en-US" sz="1200"/>
              <a:t>Faster than protocols like I²C or UART (can reach tens of MHz).</a:t>
            </a:r>
          </a:p>
          <a:p>
            <a:r>
              <a:rPr lang="en-US" sz="1200" b="1"/>
              <a:t>Simple hardware: </a:t>
            </a:r>
            <a:r>
              <a:rPr lang="en-US" sz="1200"/>
              <a:t>Requires just a few dedicated lines.</a:t>
            </a:r>
          </a:p>
          <a:p>
            <a:pPr marL="0" indent="0">
              <a:buNone/>
            </a:pPr>
            <a:endParaRPr lang="en-US" sz="1200"/>
          </a:p>
          <a:p>
            <a:pPr marL="0" indent="0">
              <a:buNone/>
            </a:pPr>
            <a:r>
              <a:rPr lang="en-US" sz="1200" b="1"/>
              <a:t>SPI Signals:</a:t>
            </a:r>
          </a:p>
          <a:p>
            <a:r>
              <a:rPr lang="en-US" sz="1200" b="1"/>
              <a:t>SCLK (Serial Clock)</a:t>
            </a:r>
            <a:r>
              <a:rPr lang="en-US" sz="1200"/>
              <a:t> – Generated by the master, synchronizes data transfers.</a:t>
            </a:r>
          </a:p>
          <a:p>
            <a:r>
              <a:rPr lang="en-US" sz="1200" b="1"/>
              <a:t>MOSI (Master Out, Slave In)</a:t>
            </a:r>
            <a:r>
              <a:rPr lang="en-US" sz="1200"/>
              <a:t> – Data line from master to slave(s).</a:t>
            </a:r>
          </a:p>
          <a:p>
            <a:r>
              <a:rPr lang="en-US" sz="1200" b="1"/>
              <a:t>MISO (Master In, Slave Out)</a:t>
            </a:r>
            <a:r>
              <a:rPr lang="en-US" sz="1200"/>
              <a:t> – Data line from slave back to master.</a:t>
            </a:r>
          </a:p>
          <a:p>
            <a:r>
              <a:rPr lang="en-US" sz="1200" b="1"/>
              <a:t>CS/SS (Chip Select / Slave Select)</a:t>
            </a:r>
            <a:r>
              <a:rPr lang="en-US" sz="1200"/>
              <a:t> – Active-low line controlled by master to enable a specific slave.</a:t>
            </a:r>
          </a:p>
          <a:p>
            <a:pPr lvl="1"/>
            <a:r>
              <a:rPr lang="en-US" sz="1200"/>
              <a:t>For multiple slaves, each has its own CS line, while SCLK, MOSI, and MISO are shared.</a:t>
            </a:r>
          </a:p>
          <a:p>
            <a:endParaRPr lang="en-US" sz="1600"/>
          </a:p>
        </p:txBody>
      </p:sp>
      <p:sp>
        <p:nvSpPr>
          <p:cNvPr id="4" name="Footer Placeholder 3">
            <a:extLst>
              <a:ext uri="{FF2B5EF4-FFF2-40B4-BE49-F238E27FC236}">
                <a16:creationId xmlns:a16="http://schemas.microsoft.com/office/drawing/2014/main" id="{F264DE27-2CD3-CC40-2F6A-F739A1B845D0}"/>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1CDBA849-C9A0-8E3C-11E7-320D41AB8862}"/>
              </a:ext>
            </a:extLst>
          </p:cNvPr>
          <p:cNvSpPr>
            <a:spLocks noGrp="1"/>
          </p:cNvSpPr>
          <p:nvPr>
            <p:ph type="sldNum" sz="quarter" idx="12"/>
          </p:nvPr>
        </p:nvSpPr>
        <p:spPr/>
        <p:txBody>
          <a:bodyPr/>
          <a:lstStyle/>
          <a:p>
            <a:fld id="{9A3029B7-FE6B-4680-9049-80E8298A0825}" type="slidenum">
              <a:rPr lang="en-US" smtClean="0"/>
              <a:t>6</a:t>
            </a:fld>
            <a:endParaRPr lang="en-US"/>
          </a:p>
        </p:txBody>
      </p:sp>
      <p:sp>
        <p:nvSpPr>
          <p:cNvPr id="6" name="Title 1">
            <a:extLst>
              <a:ext uri="{FF2B5EF4-FFF2-40B4-BE49-F238E27FC236}">
                <a16:creationId xmlns:a16="http://schemas.microsoft.com/office/drawing/2014/main" id="{5520DD98-771A-BE42-8D4C-27E81C37FCEC}"/>
              </a:ext>
            </a:extLst>
          </p:cNvPr>
          <p:cNvSpPr>
            <a:spLocks noGrp="1"/>
          </p:cNvSpPr>
          <p:nvPr>
            <p:ph type="title"/>
          </p:nvPr>
        </p:nvSpPr>
        <p:spPr>
          <a:xfrm>
            <a:off x="1066800" y="136525"/>
            <a:ext cx="7886700" cy="652463"/>
          </a:xfrm>
        </p:spPr>
        <p:txBody>
          <a:bodyPr>
            <a:normAutofit/>
          </a:bodyPr>
          <a:lstStyle/>
          <a:p>
            <a:r>
              <a:rPr lang="en-US" sz="2400" b="1"/>
              <a:t>Reference – Serial Peripheral Interface (SPI)</a:t>
            </a:r>
          </a:p>
        </p:txBody>
      </p:sp>
      <p:sp>
        <p:nvSpPr>
          <p:cNvPr id="8" name="TextBox 7">
            <a:extLst>
              <a:ext uri="{FF2B5EF4-FFF2-40B4-BE49-F238E27FC236}">
                <a16:creationId xmlns:a16="http://schemas.microsoft.com/office/drawing/2014/main" id="{9EE285B1-DF24-B125-9933-BB7EE56DF846}"/>
              </a:ext>
            </a:extLst>
          </p:cNvPr>
          <p:cNvSpPr txBox="1"/>
          <p:nvPr/>
        </p:nvSpPr>
        <p:spPr>
          <a:xfrm>
            <a:off x="6272843" y="5478117"/>
            <a:ext cx="2057400" cy="1169551"/>
          </a:xfrm>
          <a:prstGeom prst="rect">
            <a:avLst/>
          </a:prstGeom>
          <a:noFill/>
          <a:ln>
            <a:solidFill>
              <a:srgbClr val="FF0000"/>
            </a:solidFill>
          </a:ln>
        </p:spPr>
        <p:txBody>
          <a:bodyPr wrap="square" rtlCol="0">
            <a:spAutoFit/>
          </a:bodyPr>
          <a:lstStyle/>
          <a:p>
            <a:pPr algn="ctr"/>
            <a:r>
              <a:rPr lang="en-US" sz="1400" b="1" u="sng">
                <a:solidFill>
                  <a:srgbClr val="FF0000"/>
                </a:solidFill>
              </a:rPr>
              <a:t>Warning</a:t>
            </a:r>
            <a:endParaRPr lang="en-US" b="1" u="sng">
              <a:solidFill>
                <a:srgbClr val="FF0000"/>
              </a:solidFill>
            </a:endParaRPr>
          </a:p>
          <a:p>
            <a:pPr algn="ctr"/>
            <a:r>
              <a:rPr lang="en-US" sz="1400">
                <a:solidFill>
                  <a:srgbClr val="FF0000"/>
                </a:solidFill>
              </a:rPr>
              <a:t>Make sure to connect power and ground between devices as well!</a:t>
            </a:r>
          </a:p>
        </p:txBody>
      </p:sp>
      <p:pic>
        <p:nvPicPr>
          <p:cNvPr id="2053" name="Picture 5" descr="What is the SPI Protocol and How to Debug SPI Communication? - Total Phase">
            <a:extLst>
              <a:ext uri="{FF2B5EF4-FFF2-40B4-BE49-F238E27FC236}">
                <a16:creationId xmlns:a16="http://schemas.microsoft.com/office/drawing/2014/main" id="{5973787A-0030-2091-03CB-6B67B687B6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1088" y="2392594"/>
            <a:ext cx="3596548" cy="283708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D04CDB3B-7CCD-2915-4705-A8EE9A7151C8}"/>
              </a:ext>
            </a:extLst>
          </p:cNvPr>
          <p:cNvPicPr>
            <a:picLocks noChangeAspect="1"/>
          </p:cNvPicPr>
          <p:nvPr/>
        </p:nvPicPr>
        <p:blipFill>
          <a:blip r:embed="rId3"/>
          <a:stretch>
            <a:fillRect/>
          </a:stretch>
        </p:blipFill>
        <p:spPr>
          <a:xfrm>
            <a:off x="5648570" y="962363"/>
            <a:ext cx="3310310" cy="1256856"/>
          </a:xfrm>
          <a:prstGeom prst="rect">
            <a:avLst/>
          </a:prstGeom>
          <a:ln>
            <a:noFill/>
          </a:ln>
          <a:effectLst>
            <a:outerShdw blurRad="190500" algn="tl" rotWithShape="0">
              <a:srgbClr val="000000">
                <a:alpha val="70000"/>
              </a:srgbClr>
            </a:outerShdw>
          </a:effectLst>
        </p:spPr>
      </p:pic>
      <p:sp>
        <p:nvSpPr>
          <p:cNvPr id="11" name="Content Placeholder 5">
            <a:extLst>
              <a:ext uri="{FF2B5EF4-FFF2-40B4-BE49-F238E27FC236}">
                <a16:creationId xmlns:a16="http://schemas.microsoft.com/office/drawing/2014/main" id="{0EB06965-3A23-E924-182F-60D743110F99}"/>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endParaRPr lang="en-US" sz="1200"/>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207438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E8544-B741-9FED-96BC-5FB2F8F8A08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6B1FBD-0814-0145-088F-FE9D8845A23F}"/>
              </a:ext>
            </a:extLst>
          </p:cNvPr>
          <p:cNvSpPr>
            <a:spLocks noGrp="1"/>
          </p:cNvSpPr>
          <p:nvPr>
            <p:ph idx="1"/>
          </p:nvPr>
        </p:nvSpPr>
        <p:spPr>
          <a:xfrm>
            <a:off x="1095712" y="1257896"/>
            <a:ext cx="3581400" cy="2292761"/>
          </a:xfrm>
        </p:spPr>
        <p:txBody>
          <a:bodyPr>
            <a:normAutofit/>
          </a:bodyPr>
          <a:lstStyle/>
          <a:p>
            <a:pPr marL="0" indent="0">
              <a:buNone/>
            </a:pPr>
            <a:r>
              <a:rPr lang="en-US" sz="1400" b="1"/>
              <a:t>The </a:t>
            </a:r>
            <a:r>
              <a:rPr lang="en-US" sz="1400" b="1" err="1"/>
              <a:t>ArduCam</a:t>
            </a:r>
            <a:r>
              <a:rPr lang="en-US" sz="1400" b="1"/>
              <a:t> Mega GUI Tool is a desktop application that we’ll use to communicate with KestrelSAT’s MCU, which will in turn command the camera and receive data from it. </a:t>
            </a:r>
          </a:p>
          <a:p>
            <a:pPr marL="0" indent="0">
              <a:buNone/>
            </a:pPr>
            <a:r>
              <a:rPr lang="en-US" sz="1400"/>
              <a:t>The program sends binary data (in hexadecimal bytes) to the MCU for each command. The code file ArducamLink.cpp has a function to parse these bytes into commands for the camera. </a:t>
            </a:r>
          </a:p>
        </p:txBody>
      </p:sp>
      <p:sp>
        <p:nvSpPr>
          <p:cNvPr id="4" name="Footer Placeholder 3">
            <a:extLst>
              <a:ext uri="{FF2B5EF4-FFF2-40B4-BE49-F238E27FC236}">
                <a16:creationId xmlns:a16="http://schemas.microsoft.com/office/drawing/2014/main" id="{E5B2DB7D-CDB5-B0FB-7550-2442D997A97F}"/>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3634457B-4110-E26D-8782-EB043FD88DE8}"/>
              </a:ext>
            </a:extLst>
          </p:cNvPr>
          <p:cNvSpPr>
            <a:spLocks noGrp="1"/>
          </p:cNvSpPr>
          <p:nvPr>
            <p:ph type="sldNum" sz="quarter" idx="12"/>
          </p:nvPr>
        </p:nvSpPr>
        <p:spPr/>
        <p:txBody>
          <a:bodyPr/>
          <a:lstStyle/>
          <a:p>
            <a:fld id="{9A3029B7-FE6B-4680-9049-80E8298A0825}" type="slidenum">
              <a:rPr lang="en-US" smtClean="0"/>
              <a:t>7</a:t>
            </a:fld>
            <a:endParaRPr lang="en-US"/>
          </a:p>
        </p:txBody>
      </p:sp>
      <p:sp>
        <p:nvSpPr>
          <p:cNvPr id="6" name="Title 1">
            <a:extLst>
              <a:ext uri="{FF2B5EF4-FFF2-40B4-BE49-F238E27FC236}">
                <a16:creationId xmlns:a16="http://schemas.microsoft.com/office/drawing/2014/main" id="{539F4254-14C4-6302-E8DC-E999AC4949D8}"/>
              </a:ext>
            </a:extLst>
          </p:cNvPr>
          <p:cNvSpPr>
            <a:spLocks noGrp="1"/>
          </p:cNvSpPr>
          <p:nvPr>
            <p:ph type="title"/>
          </p:nvPr>
        </p:nvSpPr>
        <p:spPr>
          <a:xfrm>
            <a:off x="1066800" y="136525"/>
            <a:ext cx="7886700" cy="652463"/>
          </a:xfrm>
        </p:spPr>
        <p:txBody>
          <a:bodyPr>
            <a:normAutofit/>
          </a:bodyPr>
          <a:lstStyle/>
          <a:p>
            <a:r>
              <a:rPr lang="en-US" sz="2400" b="1"/>
              <a:t>Reference – </a:t>
            </a:r>
            <a:r>
              <a:rPr lang="en-US" sz="2400" b="1" err="1"/>
              <a:t>ArduCam</a:t>
            </a:r>
            <a:r>
              <a:rPr lang="en-US" sz="2400" b="1"/>
              <a:t> Mega GUI Tool</a:t>
            </a:r>
          </a:p>
        </p:txBody>
      </p:sp>
      <p:pic>
        <p:nvPicPr>
          <p:cNvPr id="7" name="Picture 6">
            <a:extLst>
              <a:ext uri="{FF2B5EF4-FFF2-40B4-BE49-F238E27FC236}">
                <a16:creationId xmlns:a16="http://schemas.microsoft.com/office/drawing/2014/main" id="{32AB6B01-7095-692D-D73B-3049B453DEC4}"/>
              </a:ext>
            </a:extLst>
          </p:cNvPr>
          <p:cNvPicPr>
            <a:picLocks noChangeAspect="1"/>
          </p:cNvPicPr>
          <p:nvPr/>
        </p:nvPicPr>
        <p:blipFill>
          <a:blip r:embed="rId2"/>
          <a:stretch>
            <a:fillRect/>
          </a:stretch>
        </p:blipFill>
        <p:spPr>
          <a:xfrm>
            <a:off x="1064573" y="4154052"/>
            <a:ext cx="8033062" cy="2292761"/>
          </a:xfrm>
          <a:prstGeom prst="rect">
            <a:avLst/>
          </a:prstGeom>
        </p:spPr>
      </p:pic>
      <p:pic>
        <p:nvPicPr>
          <p:cNvPr id="11" name="Picture 10">
            <a:extLst>
              <a:ext uri="{FF2B5EF4-FFF2-40B4-BE49-F238E27FC236}">
                <a16:creationId xmlns:a16="http://schemas.microsoft.com/office/drawing/2014/main" id="{C71BD1D0-4EA8-BBB6-17D9-AF258F5FC6A2}"/>
              </a:ext>
            </a:extLst>
          </p:cNvPr>
          <p:cNvPicPr>
            <a:picLocks noChangeAspect="1"/>
          </p:cNvPicPr>
          <p:nvPr/>
        </p:nvPicPr>
        <p:blipFill>
          <a:blip r:embed="rId3"/>
          <a:stretch>
            <a:fillRect/>
          </a:stretch>
        </p:blipFill>
        <p:spPr>
          <a:xfrm>
            <a:off x="4808822" y="1367013"/>
            <a:ext cx="4288813" cy="2292762"/>
          </a:xfrm>
          <a:prstGeom prst="rect">
            <a:avLst/>
          </a:prstGeom>
        </p:spPr>
      </p:pic>
      <p:pic>
        <p:nvPicPr>
          <p:cNvPr id="13" name="Picture 12">
            <a:extLst>
              <a:ext uri="{FF2B5EF4-FFF2-40B4-BE49-F238E27FC236}">
                <a16:creationId xmlns:a16="http://schemas.microsoft.com/office/drawing/2014/main" id="{C1DD9C39-57AF-9A83-BCFC-693A8DD084AE}"/>
              </a:ext>
            </a:extLst>
          </p:cNvPr>
          <p:cNvPicPr>
            <a:picLocks noChangeAspect="1"/>
          </p:cNvPicPr>
          <p:nvPr/>
        </p:nvPicPr>
        <p:blipFill>
          <a:blip r:embed="rId4"/>
          <a:stretch>
            <a:fillRect/>
          </a:stretch>
        </p:blipFill>
        <p:spPr>
          <a:xfrm>
            <a:off x="6743577" y="35922"/>
            <a:ext cx="876422" cy="743054"/>
          </a:xfrm>
          <a:prstGeom prst="rect">
            <a:avLst/>
          </a:prstGeom>
        </p:spPr>
      </p:pic>
      <p:sp>
        <p:nvSpPr>
          <p:cNvPr id="15" name="Content Placeholder 5">
            <a:extLst>
              <a:ext uri="{FF2B5EF4-FFF2-40B4-BE49-F238E27FC236}">
                <a16:creationId xmlns:a16="http://schemas.microsoft.com/office/drawing/2014/main" id="{69F7A15E-EFDD-D26A-A954-5CC8EE01A8A6}"/>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endParaRPr lang="en-US" sz="1200"/>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2666981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F09EE-4F31-F946-1E35-A74B2447793B}"/>
              </a:ext>
            </a:extLst>
          </p:cNvPr>
          <p:cNvSpPr>
            <a:spLocks noGrp="1"/>
          </p:cNvSpPr>
          <p:nvPr>
            <p:ph type="title"/>
          </p:nvPr>
        </p:nvSpPr>
        <p:spPr/>
        <p:txBody>
          <a:bodyPr/>
          <a:lstStyle/>
          <a:p>
            <a:r>
              <a:rPr lang="en-US" b="1"/>
              <a:t>Task 1 – Hardware Setup</a:t>
            </a:r>
          </a:p>
        </p:txBody>
      </p:sp>
      <p:sp>
        <p:nvSpPr>
          <p:cNvPr id="3" name="Content Placeholder 2">
            <a:extLst>
              <a:ext uri="{FF2B5EF4-FFF2-40B4-BE49-F238E27FC236}">
                <a16:creationId xmlns:a16="http://schemas.microsoft.com/office/drawing/2014/main" id="{DE1D8E7A-C28C-4C93-7C30-56210D540500}"/>
              </a:ext>
            </a:extLst>
          </p:cNvPr>
          <p:cNvSpPr>
            <a:spLocks noGrp="1"/>
          </p:cNvSpPr>
          <p:nvPr>
            <p:ph idx="1"/>
          </p:nvPr>
        </p:nvSpPr>
        <p:spPr>
          <a:xfrm>
            <a:off x="995315" y="1016170"/>
            <a:ext cx="4875549" cy="5096538"/>
          </a:xfrm>
        </p:spPr>
        <p:txBody>
          <a:bodyPr>
            <a:normAutofit/>
          </a:bodyPr>
          <a:lstStyle/>
          <a:p>
            <a:pPr marL="0" indent="0">
              <a:buNone/>
            </a:pPr>
            <a:r>
              <a:rPr lang="en-US" sz="1200" b="1" dirty="0"/>
              <a:t>In this task, you’ll connect the </a:t>
            </a:r>
            <a:r>
              <a:rPr lang="en-US" sz="1200" b="1" dirty="0" err="1"/>
              <a:t>Arducam</a:t>
            </a:r>
            <a:r>
              <a:rPr lang="en-US" sz="1200" b="1" dirty="0"/>
              <a:t> to KestrelSAT’s MCU. </a:t>
            </a:r>
          </a:p>
          <a:p>
            <a:pPr marL="0" indent="0">
              <a:buNone/>
            </a:pPr>
            <a:r>
              <a:rPr lang="en-US" sz="1200" dirty="0"/>
              <a:t>Connect the wires from the </a:t>
            </a:r>
            <a:r>
              <a:rPr lang="en-US" sz="1200" dirty="0" err="1"/>
              <a:t>ArduCam</a:t>
            </a:r>
            <a:r>
              <a:rPr lang="en-US" sz="1200" dirty="0"/>
              <a:t> to your MCU as follows:</a:t>
            </a:r>
          </a:p>
          <a:p>
            <a:pPr marL="914400" lvl="1" indent="-457200">
              <a:buAutoNum type="arabicParenBoth"/>
            </a:pPr>
            <a:r>
              <a:rPr lang="en-US" sz="1200" dirty="0"/>
              <a:t>Connect </a:t>
            </a:r>
            <a:r>
              <a:rPr lang="en-US" sz="1200" b="1" dirty="0"/>
              <a:t>GND</a:t>
            </a:r>
            <a:r>
              <a:rPr lang="en-US" sz="1200" dirty="0"/>
              <a:t> of the camera (</a:t>
            </a:r>
            <a:r>
              <a:rPr lang="en-US" sz="1200" b="1" dirty="0"/>
              <a:t>black</a:t>
            </a:r>
            <a:r>
              <a:rPr lang="en-US" sz="1200" dirty="0"/>
              <a:t> wire) to </a:t>
            </a:r>
            <a:r>
              <a:rPr lang="en-US" sz="1200" b="1" dirty="0"/>
              <a:t>GND rail</a:t>
            </a:r>
          </a:p>
          <a:p>
            <a:pPr marL="914400" lvl="1" indent="-457200">
              <a:buAutoNum type="arabicParenBoth"/>
            </a:pPr>
            <a:r>
              <a:rPr lang="en-US" sz="1200" dirty="0">
                <a:solidFill>
                  <a:srgbClr val="FF0000"/>
                </a:solidFill>
              </a:rPr>
              <a:t>Connect </a:t>
            </a:r>
            <a:r>
              <a:rPr lang="en-US" sz="1200" b="1" dirty="0">
                <a:solidFill>
                  <a:srgbClr val="FF0000"/>
                </a:solidFill>
              </a:rPr>
              <a:t>Vin</a:t>
            </a:r>
            <a:r>
              <a:rPr lang="en-US" sz="1200" dirty="0">
                <a:solidFill>
                  <a:srgbClr val="FF0000"/>
                </a:solidFill>
              </a:rPr>
              <a:t> of the camera (</a:t>
            </a:r>
            <a:r>
              <a:rPr lang="en-US" sz="1200" b="1" dirty="0">
                <a:solidFill>
                  <a:srgbClr val="FF0000"/>
                </a:solidFill>
              </a:rPr>
              <a:t>red</a:t>
            </a:r>
            <a:r>
              <a:rPr lang="en-US" sz="1200" dirty="0">
                <a:solidFill>
                  <a:srgbClr val="FF0000"/>
                </a:solidFill>
              </a:rPr>
              <a:t> wire) to </a:t>
            </a:r>
            <a:r>
              <a:rPr lang="en-US" sz="1200" b="1" dirty="0">
                <a:solidFill>
                  <a:srgbClr val="FF0000"/>
                </a:solidFill>
              </a:rPr>
              <a:t>5V rail</a:t>
            </a:r>
          </a:p>
          <a:p>
            <a:pPr marL="914400" lvl="1" indent="-457200">
              <a:buAutoNum type="arabicParenBoth"/>
            </a:pPr>
            <a:r>
              <a:rPr lang="en-US" sz="1200" dirty="0">
                <a:solidFill>
                  <a:schemeClr val="bg2">
                    <a:lumMod val="75000"/>
                  </a:schemeClr>
                </a:solidFill>
              </a:rPr>
              <a:t>Connect </a:t>
            </a:r>
            <a:r>
              <a:rPr lang="en-US" sz="1200" b="1" dirty="0">
                <a:solidFill>
                  <a:schemeClr val="bg2">
                    <a:lumMod val="75000"/>
                  </a:schemeClr>
                </a:solidFill>
              </a:rPr>
              <a:t>SCK</a:t>
            </a:r>
            <a:r>
              <a:rPr lang="en-US" sz="1200" dirty="0">
                <a:solidFill>
                  <a:schemeClr val="bg2">
                    <a:lumMod val="75000"/>
                  </a:schemeClr>
                </a:solidFill>
              </a:rPr>
              <a:t> of the camera (</a:t>
            </a:r>
            <a:r>
              <a:rPr lang="en-US" sz="1200" b="1" dirty="0">
                <a:solidFill>
                  <a:schemeClr val="bg2">
                    <a:lumMod val="75000"/>
                  </a:schemeClr>
                </a:solidFill>
              </a:rPr>
              <a:t>white</a:t>
            </a:r>
            <a:r>
              <a:rPr lang="en-US" sz="1200" dirty="0">
                <a:solidFill>
                  <a:schemeClr val="bg2">
                    <a:lumMod val="75000"/>
                  </a:schemeClr>
                </a:solidFill>
              </a:rPr>
              <a:t> wire) to </a:t>
            </a:r>
            <a:r>
              <a:rPr lang="en-US" sz="1200" b="1" dirty="0">
                <a:solidFill>
                  <a:schemeClr val="bg2">
                    <a:lumMod val="75000"/>
                  </a:schemeClr>
                </a:solidFill>
              </a:rPr>
              <a:t>GP18</a:t>
            </a:r>
          </a:p>
          <a:p>
            <a:pPr marL="914400" lvl="1" indent="-457200">
              <a:buAutoNum type="arabicParenBoth"/>
            </a:pPr>
            <a:r>
              <a:rPr lang="en-US" sz="1200" dirty="0">
                <a:solidFill>
                  <a:srgbClr val="965D10"/>
                </a:solidFill>
              </a:rPr>
              <a:t>Connect </a:t>
            </a:r>
            <a:r>
              <a:rPr lang="en-US" sz="1200" b="1" dirty="0">
                <a:solidFill>
                  <a:srgbClr val="965D10"/>
                </a:solidFill>
              </a:rPr>
              <a:t>MISO</a:t>
            </a:r>
            <a:r>
              <a:rPr lang="en-US" sz="1200" dirty="0">
                <a:solidFill>
                  <a:srgbClr val="965D10"/>
                </a:solidFill>
              </a:rPr>
              <a:t> of the camera (</a:t>
            </a:r>
            <a:r>
              <a:rPr lang="en-US" sz="1200" b="1" dirty="0">
                <a:solidFill>
                  <a:srgbClr val="965D10"/>
                </a:solidFill>
              </a:rPr>
              <a:t>brown</a:t>
            </a:r>
            <a:r>
              <a:rPr lang="en-US" sz="1200" dirty="0">
                <a:solidFill>
                  <a:srgbClr val="965D10"/>
                </a:solidFill>
              </a:rPr>
              <a:t> wire) to </a:t>
            </a:r>
            <a:r>
              <a:rPr lang="en-US" sz="1200" b="1" dirty="0">
                <a:solidFill>
                  <a:srgbClr val="965D10"/>
                </a:solidFill>
              </a:rPr>
              <a:t>GP19</a:t>
            </a:r>
          </a:p>
          <a:p>
            <a:pPr marL="914400" lvl="1" indent="-457200">
              <a:buAutoNum type="arabicParenBoth"/>
            </a:pPr>
            <a:r>
              <a:rPr lang="en-US" sz="1200" dirty="0">
                <a:solidFill>
                  <a:srgbClr val="FFC000"/>
                </a:solidFill>
              </a:rPr>
              <a:t>Connect </a:t>
            </a:r>
            <a:r>
              <a:rPr lang="en-US" sz="1200" b="1" dirty="0">
                <a:solidFill>
                  <a:srgbClr val="FFC000"/>
                </a:solidFill>
              </a:rPr>
              <a:t>MOSI</a:t>
            </a:r>
            <a:r>
              <a:rPr lang="en-US" sz="1200" dirty="0">
                <a:solidFill>
                  <a:srgbClr val="FFC000"/>
                </a:solidFill>
              </a:rPr>
              <a:t> of the camera (</a:t>
            </a:r>
            <a:r>
              <a:rPr lang="en-US" sz="1200" b="1" dirty="0">
                <a:solidFill>
                  <a:srgbClr val="FFC000"/>
                </a:solidFill>
              </a:rPr>
              <a:t>yellow</a:t>
            </a:r>
            <a:r>
              <a:rPr lang="en-US" sz="1200" dirty="0">
                <a:solidFill>
                  <a:srgbClr val="FFC000"/>
                </a:solidFill>
              </a:rPr>
              <a:t> wire) to </a:t>
            </a:r>
            <a:r>
              <a:rPr lang="en-US" sz="1200" b="1" dirty="0">
                <a:solidFill>
                  <a:srgbClr val="FFC000"/>
                </a:solidFill>
              </a:rPr>
              <a:t>GP23</a:t>
            </a:r>
          </a:p>
          <a:p>
            <a:pPr marL="914400" lvl="1" indent="-457200">
              <a:buAutoNum type="arabicParenBoth"/>
            </a:pPr>
            <a:r>
              <a:rPr lang="en-US" sz="1200" dirty="0">
                <a:solidFill>
                  <a:srgbClr val="F79737"/>
                </a:solidFill>
              </a:rPr>
              <a:t>Connect </a:t>
            </a:r>
            <a:r>
              <a:rPr lang="en-US" sz="1200" b="1" dirty="0">
                <a:solidFill>
                  <a:srgbClr val="F79737"/>
                </a:solidFill>
              </a:rPr>
              <a:t>CS</a:t>
            </a:r>
            <a:r>
              <a:rPr lang="en-US" sz="1200" dirty="0">
                <a:solidFill>
                  <a:srgbClr val="F79737"/>
                </a:solidFill>
              </a:rPr>
              <a:t> of the camera (</a:t>
            </a:r>
            <a:r>
              <a:rPr lang="en-US" sz="1200" b="1" dirty="0">
                <a:solidFill>
                  <a:srgbClr val="F79737"/>
                </a:solidFill>
              </a:rPr>
              <a:t>orange</a:t>
            </a:r>
            <a:r>
              <a:rPr lang="en-US" sz="1200" dirty="0">
                <a:solidFill>
                  <a:srgbClr val="F79737"/>
                </a:solidFill>
              </a:rPr>
              <a:t> wire) to </a:t>
            </a:r>
            <a:r>
              <a:rPr lang="en-US" sz="1200" b="1" dirty="0">
                <a:solidFill>
                  <a:srgbClr val="F79737"/>
                </a:solidFill>
              </a:rPr>
              <a:t>GP12</a:t>
            </a:r>
          </a:p>
          <a:p>
            <a:pPr marL="457200" lvl="1" indent="0">
              <a:buNone/>
            </a:pPr>
            <a:endParaRPr lang="en-US" sz="1200" b="1" dirty="0">
              <a:solidFill>
                <a:srgbClr val="F79737"/>
              </a:solidFill>
            </a:endParaRPr>
          </a:p>
          <a:p>
            <a:pPr marL="457200" lvl="1" indent="0">
              <a:buNone/>
            </a:pPr>
            <a:endParaRPr lang="en-US" sz="1200" b="1" dirty="0">
              <a:solidFill>
                <a:srgbClr val="F79737"/>
              </a:solidFill>
            </a:endParaRPr>
          </a:p>
          <a:p>
            <a:pPr marL="0" indent="0">
              <a:buNone/>
            </a:pPr>
            <a:r>
              <a:rPr lang="en-US" sz="1200" b="1" dirty="0"/>
              <a:t>Additionally, re-configure the power path so the 5V regulator is powered directly from KestrelSAT’s battery. </a:t>
            </a:r>
            <a:r>
              <a:rPr lang="en-US" sz="1200" dirty="0"/>
              <a:t>This is necessary to ensure the camera is not powered by 5V from USB, which sometimes cannot source as much current as the camera needs. </a:t>
            </a:r>
          </a:p>
          <a:p>
            <a:pPr marL="0" indent="0">
              <a:buNone/>
            </a:pPr>
            <a:endParaRPr lang="en-US" sz="1200" b="1" dirty="0"/>
          </a:p>
          <a:p>
            <a:pPr marL="800100" lvl="1" indent="-342900">
              <a:buAutoNum type="arabicParenBoth"/>
            </a:pPr>
            <a:r>
              <a:rPr lang="en-US" sz="1200" dirty="0">
                <a:solidFill>
                  <a:schemeClr val="accent5">
                    <a:lumMod val="60000"/>
                    <a:lumOff val="40000"/>
                  </a:schemeClr>
                </a:solidFill>
              </a:rPr>
              <a:t>Remove the JST connector from the MCU’s battery port.</a:t>
            </a:r>
          </a:p>
          <a:p>
            <a:pPr marL="800100" lvl="1" indent="-342900">
              <a:buAutoNum type="arabicParenBoth"/>
            </a:pPr>
            <a:endParaRPr lang="en-US" sz="1200" dirty="0"/>
          </a:p>
          <a:p>
            <a:pPr marL="800100" lvl="1" indent="-342900">
              <a:buAutoNum type="arabicParenBoth"/>
            </a:pPr>
            <a:r>
              <a:rPr lang="en-US" sz="1200" dirty="0">
                <a:solidFill>
                  <a:srgbClr val="0070C0"/>
                </a:solidFill>
              </a:rPr>
              <a:t>Connect Vin and GND wires of the regulator’s input directly to the JST connector. Now the battery (via the power switch) only powers the camera and 5V rail of KestrelSAT. The MCU must be powered via USB. </a:t>
            </a:r>
          </a:p>
          <a:p>
            <a:pPr marL="342900" indent="-342900">
              <a:buAutoNum type="arabicParenBoth"/>
            </a:pPr>
            <a:endParaRPr lang="en-US" sz="1200" b="1" dirty="0"/>
          </a:p>
        </p:txBody>
      </p:sp>
      <p:sp>
        <p:nvSpPr>
          <p:cNvPr id="4" name="Footer Placeholder 3">
            <a:extLst>
              <a:ext uri="{FF2B5EF4-FFF2-40B4-BE49-F238E27FC236}">
                <a16:creationId xmlns:a16="http://schemas.microsoft.com/office/drawing/2014/main" id="{280D9698-D112-9DDD-6FE8-C829A30AAD02}"/>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385A5448-C09E-8D02-6256-114C47FFE625}"/>
              </a:ext>
            </a:extLst>
          </p:cNvPr>
          <p:cNvSpPr>
            <a:spLocks noGrp="1"/>
          </p:cNvSpPr>
          <p:nvPr>
            <p:ph type="sldNum" sz="quarter" idx="12"/>
          </p:nvPr>
        </p:nvSpPr>
        <p:spPr/>
        <p:txBody>
          <a:bodyPr/>
          <a:lstStyle/>
          <a:p>
            <a:fld id="{9A3029B7-FE6B-4680-9049-80E8298A0825}" type="slidenum">
              <a:rPr lang="en-US" smtClean="0"/>
              <a:t>8</a:t>
            </a:fld>
            <a:endParaRPr lang="en-US"/>
          </a:p>
        </p:txBody>
      </p:sp>
      <p:sp>
        <p:nvSpPr>
          <p:cNvPr id="19" name="Content Placeholder 5">
            <a:extLst>
              <a:ext uri="{FF2B5EF4-FFF2-40B4-BE49-F238E27FC236}">
                <a16:creationId xmlns:a16="http://schemas.microsoft.com/office/drawing/2014/main" id="{36559DDD-AA97-DB08-669C-3C2437D55A39}"/>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b="1">
                <a:solidFill>
                  <a:srgbClr val="00B0F0"/>
                </a:solidFill>
              </a:rPr>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pic>
        <p:nvPicPr>
          <p:cNvPr id="8" name="Picture 7">
            <a:extLst>
              <a:ext uri="{FF2B5EF4-FFF2-40B4-BE49-F238E27FC236}">
                <a16:creationId xmlns:a16="http://schemas.microsoft.com/office/drawing/2014/main" id="{CE3E5BC7-12BB-D401-67B2-E53DC3E0E1D8}"/>
              </a:ext>
            </a:extLst>
          </p:cNvPr>
          <p:cNvPicPr>
            <a:picLocks noChangeAspect="1"/>
          </p:cNvPicPr>
          <p:nvPr/>
        </p:nvPicPr>
        <p:blipFill>
          <a:blip r:embed="rId2"/>
          <a:stretch>
            <a:fillRect/>
          </a:stretch>
        </p:blipFill>
        <p:spPr>
          <a:xfrm>
            <a:off x="6350964" y="452230"/>
            <a:ext cx="2674815" cy="3184588"/>
          </a:xfrm>
          <a:prstGeom prst="rect">
            <a:avLst/>
          </a:prstGeom>
        </p:spPr>
      </p:pic>
      <p:pic>
        <p:nvPicPr>
          <p:cNvPr id="11" name="Picture 10">
            <a:extLst>
              <a:ext uri="{FF2B5EF4-FFF2-40B4-BE49-F238E27FC236}">
                <a16:creationId xmlns:a16="http://schemas.microsoft.com/office/drawing/2014/main" id="{4F7A4505-BD79-71A5-4771-3832BE4E6E55}"/>
              </a:ext>
            </a:extLst>
          </p:cNvPr>
          <p:cNvPicPr>
            <a:picLocks noChangeAspect="1"/>
          </p:cNvPicPr>
          <p:nvPr/>
        </p:nvPicPr>
        <p:blipFill>
          <a:blip r:embed="rId3"/>
          <a:stretch>
            <a:fillRect/>
          </a:stretch>
        </p:blipFill>
        <p:spPr>
          <a:xfrm>
            <a:off x="5988129" y="3732740"/>
            <a:ext cx="3037650" cy="2768952"/>
          </a:xfrm>
          <a:prstGeom prst="rect">
            <a:avLst/>
          </a:prstGeom>
        </p:spPr>
      </p:pic>
      <p:sp>
        <p:nvSpPr>
          <p:cNvPr id="20" name="Freeform: Shape 19">
            <a:extLst>
              <a:ext uri="{FF2B5EF4-FFF2-40B4-BE49-F238E27FC236}">
                <a16:creationId xmlns:a16="http://schemas.microsoft.com/office/drawing/2014/main" id="{698D62D8-FA24-6FA5-1262-2ADDDA023E21}"/>
              </a:ext>
            </a:extLst>
          </p:cNvPr>
          <p:cNvSpPr/>
          <p:nvPr/>
        </p:nvSpPr>
        <p:spPr>
          <a:xfrm>
            <a:off x="5715000" y="4551218"/>
            <a:ext cx="2348345" cy="1728047"/>
          </a:xfrm>
          <a:custGeom>
            <a:avLst/>
            <a:gdLst>
              <a:gd name="csX0" fmla="*/ 0 w 2348345"/>
              <a:gd name="csY0" fmla="*/ 0 h 1728047"/>
              <a:gd name="csX1" fmla="*/ 342900 w 2348345"/>
              <a:gd name="csY1" fmla="*/ 249382 h 1728047"/>
              <a:gd name="csX2" fmla="*/ 529936 w 2348345"/>
              <a:gd name="csY2" fmla="*/ 1039091 h 1728047"/>
              <a:gd name="csX3" fmla="*/ 1236518 w 2348345"/>
              <a:gd name="csY3" fmla="*/ 1724891 h 1728047"/>
              <a:gd name="csX4" fmla="*/ 2348345 w 2348345"/>
              <a:gd name="csY4" fmla="*/ 1246909 h 1728047"/>
            </a:gdLst>
            <a:ahLst/>
            <a:cxnLst>
              <a:cxn ang="0">
                <a:pos x="csX0" y="csY0"/>
              </a:cxn>
              <a:cxn ang="0">
                <a:pos x="csX1" y="csY1"/>
              </a:cxn>
              <a:cxn ang="0">
                <a:pos x="csX2" y="csY2"/>
              </a:cxn>
              <a:cxn ang="0">
                <a:pos x="csX3" y="csY3"/>
              </a:cxn>
              <a:cxn ang="0">
                <a:pos x="csX4" y="csY4"/>
              </a:cxn>
            </a:cxnLst>
            <a:rect l="l" t="t" r="r" b="b"/>
            <a:pathLst>
              <a:path w="2348345" h="1728047">
                <a:moveTo>
                  <a:pt x="0" y="0"/>
                </a:moveTo>
                <a:cubicBezTo>
                  <a:pt x="127288" y="38100"/>
                  <a:pt x="254577" y="76200"/>
                  <a:pt x="342900" y="249382"/>
                </a:cubicBezTo>
                <a:cubicBezTo>
                  <a:pt x="431223" y="422564"/>
                  <a:pt x="381000" y="793173"/>
                  <a:pt x="529936" y="1039091"/>
                </a:cubicBezTo>
                <a:cubicBezTo>
                  <a:pt x="678872" y="1285009"/>
                  <a:pt x="933450" y="1690255"/>
                  <a:pt x="1236518" y="1724891"/>
                </a:cubicBezTo>
                <a:cubicBezTo>
                  <a:pt x="1539586" y="1759527"/>
                  <a:pt x="1943965" y="1503218"/>
                  <a:pt x="2348345" y="1246909"/>
                </a:cubicBezTo>
              </a:path>
            </a:pathLst>
          </a:custGeom>
          <a:noFill/>
          <a:ln w="38100">
            <a:solidFill>
              <a:schemeClr val="accent5">
                <a:lumMod val="60000"/>
                <a:lumOff val="4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5280E03-AB1F-262F-2F1D-0F87E5374356}"/>
              </a:ext>
            </a:extLst>
          </p:cNvPr>
          <p:cNvCxnSpPr>
            <a:cxnSpLocks/>
          </p:cNvCxnSpPr>
          <p:nvPr/>
        </p:nvCxnSpPr>
        <p:spPr>
          <a:xfrm flipV="1">
            <a:off x="5559560" y="4934548"/>
            <a:ext cx="791404" cy="257240"/>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BD8A793B-04EE-5049-8663-B3A41BFCD38B}"/>
              </a:ext>
            </a:extLst>
          </p:cNvPr>
          <p:cNvSpPr/>
          <p:nvPr/>
        </p:nvSpPr>
        <p:spPr>
          <a:xfrm>
            <a:off x="6350964" y="4482802"/>
            <a:ext cx="626727" cy="613064"/>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E6E68D7-AD14-37D4-1DF5-344905050947}"/>
              </a:ext>
            </a:extLst>
          </p:cNvPr>
          <p:cNvSpPr/>
          <p:nvPr/>
        </p:nvSpPr>
        <p:spPr>
          <a:xfrm>
            <a:off x="7867246" y="5415241"/>
            <a:ext cx="626727" cy="613064"/>
          </a:xfrm>
          <a:prstGeom prst="ellipse">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629DEFE-3D5F-F533-C71C-613BC1128289}"/>
              </a:ext>
            </a:extLst>
          </p:cNvPr>
          <p:cNvSpPr txBox="1"/>
          <p:nvPr/>
        </p:nvSpPr>
        <p:spPr>
          <a:xfrm>
            <a:off x="5172498" y="2982740"/>
            <a:ext cx="1130010" cy="276999"/>
          </a:xfrm>
          <a:prstGeom prst="rect">
            <a:avLst/>
          </a:prstGeom>
          <a:noFill/>
        </p:spPr>
        <p:txBody>
          <a:bodyPr wrap="square">
            <a:spAutoFit/>
          </a:bodyPr>
          <a:lstStyle/>
          <a:p>
            <a:r>
              <a:rPr lang="en-US" sz="1200" b="1">
                <a:solidFill>
                  <a:schemeClr val="tx1">
                    <a:lumMod val="50000"/>
                    <a:lumOff val="50000"/>
                  </a:schemeClr>
                </a:solidFill>
                <a:latin typeface="Segoe UI" panose="020B0502040204020203" pitchFamily="34" charset="0"/>
                <a:cs typeface="Segoe UI" panose="020B0502040204020203" pitchFamily="34" charset="0"/>
              </a:rPr>
              <a:t>5V regulator </a:t>
            </a:r>
          </a:p>
        </p:txBody>
      </p:sp>
      <p:cxnSp>
        <p:nvCxnSpPr>
          <p:cNvPr id="13" name="Straight Arrow Connector 12">
            <a:extLst>
              <a:ext uri="{FF2B5EF4-FFF2-40B4-BE49-F238E27FC236}">
                <a16:creationId xmlns:a16="http://schemas.microsoft.com/office/drawing/2014/main" id="{5A023722-9102-47E8-1F56-DFCB6FFC86E3}"/>
              </a:ext>
            </a:extLst>
          </p:cNvPr>
          <p:cNvCxnSpPr>
            <a:cxnSpLocks/>
          </p:cNvCxnSpPr>
          <p:nvPr/>
        </p:nvCxnSpPr>
        <p:spPr>
          <a:xfrm flipV="1">
            <a:off x="5715000" y="1895263"/>
            <a:ext cx="860637" cy="1073633"/>
          </a:xfrm>
          <a:prstGeom prst="straightConnector1">
            <a:avLst/>
          </a:prstGeom>
          <a:ln w="381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A4983DB3-617D-90B2-F5A7-7230EDBA58EC}"/>
              </a:ext>
            </a:extLst>
          </p:cNvPr>
          <p:cNvCxnSpPr>
            <a:cxnSpLocks/>
            <a:stCxn id="10" idx="2"/>
          </p:cNvCxnSpPr>
          <p:nvPr/>
        </p:nvCxnSpPr>
        <p:spPr>
          <a:xfrm>
            <a:off x="5737503" y="3259739"/>
            <a:ext cx="838134" cy="1000636"/>
          </a:xfrm>
          <a:prstGeom prst="straightConnector1">
            <a:avLst/>
          </a:prstGeom>
          <a:ln w="381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7570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7BA63-78A7-2CBF-6DD3-A4D8C57550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2BE4C-E418-410B-7CA7-05328A83A1E6}"/>
              </a:ext>
            </a:extLst>
          </p:cNvPr>
          <p:cNvSpPr>
            <a:spLocks noGrp="1"/>
          </p:cNvSpPr>
          <p:nvPr>
            <p:ph type="title"/>
          </p:nvPr>
        </p:nvSpPr>
        <p:spPr/>
        <p:txBody>
          <a:bodyPr/>
          <a:lstStyle/>
          <a:p>
            <a:r>
              <a:rPr lang="en-US" b="1"/>
              <a:t>Task 2 – Software Setup</a:t>
            </a:r>
          </a:p>
        </p:txBody>
      </p:sp>
      <p:sp>
        <p:nvSpPr>
          <p:cNvPr id="3" name="Content Placeholder 2">
            <a:extLst>
              <a:ext uri="{FF2B5EF4-FFF2-40B4-BE49-F238E27FC236}">
                <a16:creationId xmlns:a16="http://schemas.microsoft.com/office/drawing/2014/main" id="{5B6E60AD-9290-DA0E-2AE5-F69C9BEB150F}"/>
              </a:ext>
            </a:extLst>
          </p:cNvPr>
          <p:cNvSpPr>
            <a:spLocks noGrp="1"/>
          </p:cNvSpPr>
          <p:nvPr>
            <p:ph idx="1"/>
          </p:nvPr>
        </p:nvSpPr>
        <p:spPr>
          <a:xfrm>
            <a:off x="1066991" y="836274"/>
            <a:ext cx="7886700" cy="4351338"/>
          </a:xfrm>
        </p:spPr>
        <p:txBody>
          <a:bodyPr>
            <a:normAutofit/>
          </a:bodyPr>
          <a:lstStyle/>
          <a:p>
            <a:pPr marL="0" indent="0">
              <a:buNone/>
            </a:pPr>
            <a:r>
              <a:rPr lang="en-US" sz="1800" b="1"/>
              <a:t>In this task, you’ll install the </a:t>
            </a:r>
            <a:r>
              <a:rPr lang="en-US" sz="1800" b="1" err="1"/>
              <a:t>ArduCam</a:t>
            </a:r>
            <a:r>
              <a:rPr lang="en-US" sz="1800" b="1"/>
              <a:t> Mega GUI Tool and upload Arduino code to your MCU.</a:t>
            </a:r>
            <a:r>
              <a:rPr lang="en-US" sz="1800"/>
              <a:t> </a:t>
            </a:r>
          </a:p>
        </p:txBody>
      </p:sp>
      <p:sp>
        <p:nvSpPr>
          <p:cNvPr id="4" name="Footer Placeholder 3">
            <a:extLst>
              <a:ext uri="{FF2B5EF4-FFF2-40B4-BE49-F238E27FC236}">
                <a16:creationId xmlns:a16="http://schemas.microsoft.com/office/drawing/2014/main" id="{6634B319-A621-3E65-EAA4-1A9433B2B59D}"/>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2880A80B-B640-6448-5E6E-24602C484D84}"/>
              </a:ext>
            </a:extLst>
          </p:cNvPr>
          <p:cNvSpPr>
            <a:spLocks noGrp="1"/>
          </p:cNvSpPr>
          <p:nvPr>
            <p:ph type="sldNum" sz="quarter" idx="12"/>
          </p:nvPr>
        </p:nvSpPr>
        <p:spPr/>
        <p:txBody>
          <a:bodyPr/>
          <a:lstStyle/>
          <a:p>
            <a:fld id="{9A3029B7-FE6B-4680-9049-80E8298A0825}" type="slidenum">
              <a:rPr lang="en-US" smtClean="0"/>
              <a:t>9</a:t>
            </a:fld>
            <a:endParaRPr lang="en-US"/>
          </a:p>
        </p:txBody>
      </p:sp>
      <p:sp>
        <p:nvSpPr>
          <p:cNvPr id="11" name="TextBox 10">
            <a:extLst>
              <a:ext uri="{FF2B5EF4-FFF2-40B4-BE49-F238E27FC236}">
                <a16:creationId xmlns:a16="http://schemas.microsoft.com/office/drawing/2014/main" id="{8AEB525E-569D-6FD5-C2EE-368D20B5DFDE}"/>
              </a:ext>
            </a:extLst>
          </p:cNvPr>
          <p:cNvSpPr txBox="1"/>
          <p:nvPr/>
        </p:nvSpPr>
        <p:spPr>
          <a:xfrm>
            <a:off x="1190625" y="1571844"/>
            <a:ext cx="7763066" cy="4862870"/>
          </a:xfrm>
          <a:prstGeom prst="rect">
            <a:avLst/>
          </a:prstGeom>
          <a:noFill/>
        </p:spPr>
        <p:txBody>
          <a:bodyPr wrap="square">
            <a:spAutoFit/>
          </a:bodyPr>
          <a:lstStyle/>
          <a:p>
            <a:pPr marL="342900" indent="-342900">
              <a:spcAft>
                <a:spcPts val="600"/>
              </a:spcAft>
              <a:buAutoNum type="arabicParenBoth"/>
            </a:pPr>
            <a:r>
              <a:rPr lang="en-US" dirty="0"/>
              <a:t>Download </a:t>
            </a:r>
            <a:r>
              <a:rPr lang="en-US" b="1" dirty="0">
                <a:solidFill>
                  <a:srgbClr val="00B0F0"/>
                </a:solidFill>
                <a:latin typeface="Courier New" panose="02070309020205020404" pitchFamily="49" charset="0"/>
                <a:cs typeface="Courier New" panose="02070309020205020404" pitchFamily="49" charset="0"/>
              </a:rPr>
              <a:t>ArducamMegaSetup_Windows_x64.exe </a:t>
            </a:r>
            <a:r>
              <a:rPr lang="en-US" dirty="0"/>
              <a:t>from the Lab 5 folder on Teams and install the application. </a:t>
            </a:r>
          </a:p>
          <a:p>
            <a:pPr marL="342900" indent="-342900">
              <a:spcAft>
                <a:spcPts val="600"/>
              </a:spcAft>
              <a:buAutoNum type="arabicParenBoth"/>
            </a:pPr>
            <a:endParaRPr lang="en-US" dirty="0"/>
          </a:p>
          <a:p>
            <a:pPr marL="342900" indent="-342900">
              <a:spcAft>
                <a:spcPts val="600"/>
              </a:spcAft>
              <a:buAutoNum type="arabicParenBoth"/>
            </a:pPr>
            <a:r>
              <a:rPr lang="en-US" dirty="0"/>
              <a:t>Download </a:t>
            </a:r>
            <a:r>
              <a:rPr lang="en-US" dirty="0">
                <a:solidFill>
                  <a:srgbClr val="00B0F0"/>
                </a:solidFill>
              </a:rPr>
              <a:t>Astro331_Lab5_Code</a:t>
            </a:r>
            <a:r>
              <a:rPr lang="en-US" dirty="0"/>
              <a:t> folder from teams or instructor USB and open it in </a:t>
            </a:r>
            <a:r>
              <a:rPr lang="en-US" dirty="0" err="1"/>
              <a:t>PlatformIO</a:t>
            </a:r>
            <a:r>
              <a:rPr lang="en-US" dirty="0"/>
              <a:t> as you have done in previous labs. Upload the code to your MCU. </a:t>
            </a:r>
          </a:p>
          <a:p>
            <a:pPr marL="342900" indent="-342900">
              <a:spcAft>
                <a:spcPts val="600"/>
              </a:spcAft>
              <a:buAutoNum type="arabicParenBoth"/>
            </a:pPr>
            <a:endParaRPr lang="en-US" dirty="0"/>
          </a:p>
          <a:p>
            <a:pPr marL="0" lvl="1" algn="ctr">
              <a:spcAft>
                <a:spcPts val="600"/>
              </a:spcAft>
            </a:pPr>
            <a:r>
              <a:rPr lang="en-US" b="1" dirty="0">
                <a:solidFill>
                  <a:srgbClr val="FF0000"/>
                </a:solidFill>
              </a:rPr>
              <a:t>**You may have to turn off the power to the camera (using </a:t>
            </a:r>
            <a:r>
              <a:rPr lang="en-US" b="1" dirty="0" err="1">
                <a:solidFill>
                  <a:srgbClr val="FF0000"/>
                </a:solidFill>
              </a:rPr>
              <a:t>KestrelSAT’s</a:t>
            </a:r>
            <a:r>
              <a:rPr lang="en-US" b="1" dirty="0">
                <a:solidFill>
                  <a:srgbClr val="FF0000"/>
                </a:solidFill>
              </a:rPr>
              <a:t> power switch) for the code to upload properly (remember to turn it back on after upload)**</a:t>
            </a:r>
          </a:p>
          <a:p>
            <a:pPr marL="0" lvl="1" algn="ctr">
              <a:spcAft>
                <a:spcPts val="600"/>
              </a:spcAft>
            </a:pPr>
            <a:endParaRPr lang="en-US" dirty="0"/>
          </a:p>
          <a:p>
            <a:pPr marL="342900" indent="-342900">
              <a:spcAft>
                <a:spcPts val="600"/>
              </a:spcAft>
              <a:buFontTx/>
              <a:buAutoNum type="arabicParenBoth"/>
            </a:pPr>
            <a:r>
              <a:rPr lang="en-US" dirty="0">
                <a:sym typeface="Wingdings" panose="05000000000000000000" pitchFamily="2" charset="2"/>
              </a:rPr>
              <a:t>The Blue STAT LED located near the center of the MCU board should illuminate if the camera connected properly to the MCU. </a:t>
            </a:r>
            <a:endParaRPr lang="en-US" dirty="0"/>
          </a:p>
          <a:p>
            <a:pPr marL="342900" indent="-342900">
              <a:spcAft>
                <a:spcPts val="600"/>
              </a:spcAft>
              <a:buAutoNum type="arabicParenBoth"/>
            </a:pPr>
            <a:endParaRPr lang="en-US" dirty="0"/>
          </a:p>
          <a:p>
            <a:pPr marL="342900" indent="-342900">
              <a:spcAft>
                <a:spcPts val="600"/>
              </a:spcAft>
              <a:buAutoNum type="arabicParenBoth"/>
            </a:pPr>
            <a:endParaRPr lang="en-US" dirty="0">
              <a:sym typeface="Wingdings" panose="05000000000000000000" pitchFamily="2" charset="2"/>
            </a:endParaRPr>
          </a:p>
        </p:txBody>
      </p:sp>
      <p:sp>
        <p:nvSpPr>
          <p:cNvPr id="18" name="Content Placeholder 5">
            <a:extLst>
              <a:ext uri="{FF2B5EF4-FFF2-40B4-BE49-F238E27FC236}">
                <a16:creationId xmlns:a16="http://schemas.microsoft.com/office/drawing/2014/main" id="{233A6254-45BC-45F8-AE9D-8D16A22EF72F}"/>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Task 1</a:t>
            </a:r>
          </a:p>
          <a:p>
            <a:pPr marL="0" indent="0">
              <a:buNone/>
            </a:pPr>
            <a:r>
              <a:rPr lang="en-US" sz="1200" b="1">
                <a:solidFill>
                  <a:srgbClr val="00B0F0"/>
                </a:solidFill>
              </a:rPr>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167778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B6BD3-C20D-4732-29C7-49BB1DD8C3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C97A26-C3BD-C5C5-FD1F-E91FED080473}"/>
              </a:ext>
            </a:extLst>
          </p:cNvPr>
          <p:cNvSpPr>
            <a:spLocks noGrp="1"/>
          </p:cNvSpPr>
          <p:nvPr>
            <p:ph type="title"/>
          </p:nvPr>
        </p:nvSpPr>
        <p:spPr/>
        <p:txBody>
          <a:bodyPr/>
          <a:lstStyle/>
          <a:p>
            <a:r>
              <a:rPr lang="en-US" b="1"/>
              <a:t>Task 3 – Prepare Resolution Chart</a:t>
            </a:r>
          </a:p>
        </p:txBody>
      </p:sp>
      <p:pic>
        <p:nvPicPr>
          <p:cNvPr id="7" name="Content Placeholder 6">
            <a:extLst>
              <a:ext uri="{FF2B5EF4-FFF2-40B4-BE49-F238E27FC236}">
                <a16:creationId xmlns:a16="http://schemas.microsoft.com/office/drawing/2014/main" id="{43F36035-AEAD-3321-B592-412AEAFF66E0}"/>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6296566" y="788719"/>
            <a:ext cx="2449116" cy="3169445"/>
          </a:xfrm>
        </p:spPr>
      </p:pic>
      <p:sp>
        <p:nvSpPr>
          <p:cNvPr id="4" name="Footer Placeholder 3">
            <a:extLst>
              <a:ext uri="{FF2B5EF4-FFF2-40B4-BE49-F238E27FC236}">
                <a16:creationId xmlns:a16="http://schemas.microsoft.com/office/drawing/2014/main" id="{E6CADEB3-36A4-5A32-CCD3-BE6E64841F4C}"/>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0B645159-D04E-1D04-DD07-60A3326E2D68}"/>
              </a:ext>
            </a:extLst>
          </p:cNvPr>
          <p:cNvSpPr>
            <a:spLocks noGrp="1"/>
          </p:cNvSpPr>
          <p:nvPr>
            <p:ph type="sldNum" sz="quarter" idx="12"/>
          </p:nvPr>
        </p:nvSpPr>
        <p:spPr/>
        <p:txBody>
          <a:bodyPr/>
          <a:lstStyle/>
          <a:p>
            <a:fld id="{9A3029B7-FE6B-4680-9049-80E8298A0825}" type="slidenum">
              <a:rPr lang="en-US" smtClean="0"/>
              <a:t>10</a:t>
            </a:fld>
            <a:endParaRPr lang="en-US"/>
          </a:p>
        </p:txBody>
      </p:sp>
      <p:pic>
        <p:nvPicPr>
          <p:cNvPr id="9" name="Graphic 8">
            <a:extLst>
              <a:ext uri="{FF2B5EF4-FFF2-40B4-BE49-F238E27FC236}">
                <a16:creationId xmlns:a16="http://schemas.microsoft.com/office/drawing/2014/main" id="{FA0CFB8E-367C-AD4E-0606-157F823E5D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96566" y="3752850"/>
            <a:ext cx="2449116" cy="3169444"/>
          </a:xfrm>
          <a:prstGeom prst="rect">
            <a:avLst/>
          </a:prstGeom>
        </p:spPr>
      </p:pic>
      <p:sp>
        <p:nvSpPr>
          <p:cNvPr id="11" name="Content Placeholder 2">
            <a:extLst>
              <a:ext uri="{FF2B5EF4-FFF2-40B4-BE49-F238E27FC236}">
                <a16:creationId xmlns:a16="http://schemas.microsoft.com/office/drawing/2014/main" id="{2ADBD554-323D-BCD1-A992-C2A8F574AE3A}"/>
              </a:ext>
            </a:extLst>
          </p:cNvPr>
          <p:cNvSpPr txBox="1">
            <a:spLocks/>
          </p:cNvSpPr>
          <p:nvPr/>
        </p:nvSpPr>
        <p:spPr>
          <a:xfrm>
            <a:off x="1066991" y="871537"/>
            <a:ext cx="5229575" cy="5114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a:t>There are two resolution charts printed at your lab station. They are also available electronically with these lab instructions. </a:t>
            </a:r>
          </a:p>
          <a:p>
            <a:pPr marL="0" indent="0">
              <a:buNone/>
            </a:pPr>
            <a:r>
              <a:rPr lang="en-US" sz="1600"/>
              <a:t>  ISO_12233-reschart letter</a:t>
            </a:r>
          </a:p>
          <a:p>
            <a:pPr marL="0" indent="0">
              <a:buNone/>
            </a:pPr>
            <a:r>
              <a:rPr lang="en-US" sz="1600"/>
              <a:t>  ISO_12233-reschart big</a:t>
            </a:r>
          </a:p>
          <a:p>
            <a:pPr marL="0" indent="0">
              <a:buNone/>
            </a:pPr>
            <a:r>
              <a:rPr lang="en-US" sz="1600"/>
              <a:t>(1) Using the metric ruler at your lab station, measure the height of the resolution chart (triangle-to-triangle). Note the remark at the top, e.g. "VALUES IN 100X LINES PER PICTURE HEIGHT."</a:t>
            </a:r>
          </a:p>
          <a:p>
            <a:pPr marL="0" indent="0">
              <a:buNone/>
            </a:pPr>
            <a:r>
              <a:rPr lang="en-US" sz="1600"/>
              <a:t>(2) Verify the scale of the resolution markings. If the image height is 200 mm, at the 1 mark there should be 100 lines/200 mm, making each line is 2 mm wide. </a:t>
            </a:r>
          </a:p>
          <a:p>
            <a:pPr marL="0" indent="0">
              <a:buNone/>
            </a:pPr>
            <a:r>
              <a:rPr lang="en-US" sz="1600"/>
              <a:t>(3) Note this scale for later use after the lab. </a:t>
            </a:r>
          </a:p>
          <a:p>
            <a:pPr marL="0" indent="0">
              <a:buNone/>
            </a:pPr>
            <a:r>
              <a:rPr lang="en-US" sz="1600"/>
              <a:t>(4) Repeat these steps for the large resolution chart. </a:t>
            </a:r>
          </a:p>
        </p:txBody>
      </p:sp>
      <p:sp>
        <p:nvSpPr>
          <p:cNvPr id="12" name="Content Placeholder 5">
            <a:extLst>
              <a:ext uri="{FF2B5EF4-FFF2-40B4-BE49-F238E27FC236}">
                <a16:creationId xmlns:a16="http://schemas.microsoft.com/office/drawing/2014/main" id="{504E6F7B-A37F-2123-C06D-8A574F05AE65}"/>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Task 1</a:t>
            </a:r>
          </a:p>
          <a:p>
            <a:pPr marL="0" indent="0">
              <a:buNone/>
            </a:pPr>
            <a:r>
              <a:rPr lang="en-US" sz="1200"/>
              <a:t>Task 2</a:t>
            </a:r>
          </a:p>
          <a:p>
            <a:pPr marL="0" indent="0">
              <a:buNone/>
            </a:pPr>
            <a:r>
              <a:rPr lang="en-US" sz="1200" b="1">
                <a:solidFill>
                  <a:srgbClr val="00B0F0"/>
                </a:solidFill>
              </a:rPr>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sp>
        <p:nvSpPr>
          <p:cNvPr id="6" name="TextBox 5">
            <a:extLst>
              <a:ext uri="{FF2B5EF4-FFF2-40B4-BE49-F238E27FC236}">
                <a16:creationId xmlns:a16="http://schemas.microsoft.com/office/drawing/2014/main" id="{50542483-96C4-77FF-6116-F5E42611F0FA}"/>
              </a:ext>
            </a:extLst>
          </p:cNvPr>
          <p:cNvSpPr txBox="1"/>
          <p:nvPr/>
        </p:nvSpPr>
        <p:spPr>
          <a:xfrm>
            <a:off x="1270648" y="4893342"/>
            <a:ext cx="4719272" cy="1569660"/>
          </a:xfrm>
          <a:prstGeom prst="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wrap="square">
            <a:spAutoFit/>
          </a:bodyPr>
          <a:lstStyle/>
          <a:p>
            <a:pPr marL="0" indent="0">
              <a:buNone/>
            </a:pPr>
            <a:r>
              <a:rPr lang="en-US" sz="1600" b="1">
                <a:solidFill>
                  <a:srgbClr val="00B050"/>
                </a:solidFill>
                <a:latin typeface="Segoe UI" panose="020B0502040204020203" pitchFamily="34" charset="0"/>
                <a:cs typeface="Segoe UI" panose="020B0502040204020203" pitchFamily="34" charset="0"/>
              </a:rPr>
              <a:t>To determine the camera's resolution for each distance, find the point where you can barely distinguish each individual line. Refer to the scale you recorded. If the smallest lines you can resolve are 2/3 mm wide, your camera's resolution is 0.667 mm.</a:t>
            </a:r>
          </a:p>
        </p:txBody>
      </p:sp>
    </p:spTree>
    <p:extLst>
      <p:ext uri="{BB962C8B-B14F-4D97-AF65-F5344CB8AC3E}">
        <p14:creationId xmlns:p14="http://schemas.microsoft.com/office/powerpoint/2010/main" val="3293587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672FF-8FD7-8D90-7FBA-A55CCD11DF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80160E-232B-5DC5-AFB4-2DE16DD9D4E0}"/>
              </a:ext>
            </a:extLst>
          </p:cNvPr>
          <p:cNvSpPr>
            <a:spLocks noGrp="1"/>
          </p:cNvSpPr>
          <p:nvPr>
            <p:ph type="title"/>
          </p:nvPr>
        </p:nvSpPr>
        <p:spPr/>
        <p:txBody>
          <a:bodyPr/>
          <a:lstStyle/>
          <a:p>
            <a:r>
              <a:rPr lang="en-US" b="1"/>
              <a:t>Task 4 – Connect to </a:t>
            </a:r>
            <a:r>
              <a:rPr lang="en-US" b="1" err="1"/>
              <a:t>ArduCam</a:t>
            </a:r>
            <a:endParaRPr lang="en-US" b="1"/>
          </a:p>
        </p:txBody>
      </p:sp>
      <p:sp>
        <p:nvSpPr>
          <p:cNvPr id="3" name="Content Placeholder 2">
            <a:extLst>
              <a:ext uri="{FF2B5EF4-FFF2-40B4-BE49-F238E27FC236}">
                <a16:creationId xmlns:a16="http://schemas.microsoft.com/office/drawing/2014/main" id="{D57A2A60-FBF8-466D-B92C-5E0B89386F5C}"/>
              </a:ext>
            </a:extLst>
          </p:cNvPr>
          <p:cNvSpPr>
            <a:spLocks noGrp="1"/>
          </p:cNvSpPr>
          <p:nvPr>
            <p:ph idx="1"/>
          </p:nvPr>
        </p:nvSpPr>
        <p:spPr>
          <a:xfrm>
            <a:off x="1066991" y="1002506"/>
            <a:ext cx="4780472" cy="5499185"/>
          </a:xfrm>
        </p:spPr>
        <p:txBody>
          <a:bodyPr>
            <a:normAutofit lnSpcReduction="10000"/>
          </a:bodyPr>
          <a:lstStyle/>
          <a:p>
            <a:pPr marL="514350" indent="-514350">
              <a:buAutoNum type="arabicParenBoth"/>
            </a:pPr>
            <a:r>
              <a:rPr lang="en-US" sz="1800"/>
              <a:t>Connect KestrelSAT’s MCU to your computer via USB. </a:t>
            </a:r>
            <a:r>
              <a:rPr lang="en-US" sz="1800" b="1">
                <a:solidFill>
                  <a:srgbClr val="00B0F0"/>
                </a:solidFill>
              </a:rPr>
              <a:t>Verify the blue LED in the center of the MCU is lit, </a:t>
            </a:r>
            <a:r>
              <a:rPr lang="en-US" sz="1800"/>
              <a:t>indicating the camera booted up properly.</a:t>
            </a:r>
          </a:p>
          <a:p>
            <a:pPr marL="514350" indent="-514350">
              <a:buAutoNum type="arabicParenBoth"/>
            </a:pPr>
            <a:r>
              <a:rPr lang="en-US" sz="1800"/>
              <a:t>Open </a:t>
            </a:r>
            <a:r>
              <a:rPr lang="en-US" sz="1800" err="1"/>
              <a:t>ArduCam</a:t>
            </a:r>
            <a:r>
              <a:rPr lang="en-US" sz="1800"/>
              <a:t> Mega GUI Tool. </a:t>
            </a:r>
          </a:p>
          <a:p>
            <a:pPr marL="514350" indent="-514350">
              <a:buAutoNum type="arabicParenBoth"/>
            </a:pPr>
            <a:r>
              <a:rPr lang="en-US" sz="1800"/>
              <a:t>Select the COM port of your MCU</a:t>
            </a:r>
          </a:p>
          <a:p>
            <a:pPr marL="514350" indent="-514350">
              <a:buAutoNum type="arabicParenBoth"/>
            </a:pPr>
            <a:r>
              <a:rPr lang="en-US" sz="1800"/>
              <a:t>Select </a:t>
            </a:r>
            <a:r>
              <a:rPr lang="en-US" sz="1800" b="1" err="1"/>
              <a:t>Baudrate</a:t>
            </a:r>
            <a:r>
              <a:rPr lang="en-US" sz="1800" b="1"/>
              <a:t> </a:t>
            </a:r>
            <a:r>
              <a:rPr lang="en-US" sz="1800"/>
              <a:t>of</a:t>
            </a:r>
            <a:r>
              <a:rPr lang="en-US" sz="1800" b="1"/>
              <a:t> 115200 </a:t>
            </a:r>
            <a:r>
              <a:rPr lang="en-US" sz="1800"/>
              <a:t>bps.</a:t>
            </a:r>
          </a:p>
          <a:p>
            <a:pPr marL="514350" indent="-514350">
              <a:buAutoNum type="arabicParenBoth"/>
            </a:pPr>
            <a:r>
              <a:rPr lang="en-US" sz="1800"/>
              <a:t>Select ‘</a:t>
            </a:r>
            <a:r>
              <a:rPr lang="en-US" sz="1800" b="1"/>
              <a:t>Open</a:t>
            </a:r>
            <a:r>
              <a:rPr lang="en-US" sz="1800"/>
              <a:t>.’</a:t>
            </a:r>
          </a:p>
          <a:p>
            <a:pPr marL="514350" indent="-514350">
              <a:buAutoNum type="arabicParenBoth"/>
            </a:pPr>
            <a:r>
              <a:rPr lang="en-US" sz="1800"/>
              <a:t>Select to the ‘</a:t>
            </a:r>
            <a:r>
              <a:rPr lang="en-US" sz="1800" b="1"/>
              <a:t>Capture</a:t>
            </a:r>
            <a:r>
              <a:rPr lang="en-US" sz="1800"/>
              <a:t>’ menu. Verify ‘</a:t>
            </a:r>
            <a:r>
              <a:rPr lang="en-US" sz="1800" err="1"/>
              <a:t>CapFormat</a:t>
            </a:r>
            <a:r>
              <a:rPr lang="en-US" sz="1800"/>
              <a:t>’ is ‘</a:t>
            </a:r>
            <a:r>
              <a:rPr lang="en-US" sz="1800" b="1"/>
              <a:t>JPEG</a:t>
            </a:r>
            <a:r>
              <a:rPr lang="en-US" sz="1800"/>
              <a:t>’ and ‘</a:t>
            </a:r>
            <a:r>
              <a:rPr lang="en-US" sz="1800" err="1"/>
              <a:t>CapSize</a:t>
            </a:r>
            <a:r>
              <a:rPr lang="en-US" sz="1800"/>
              <a:t>’ is </a:t>
            </a:r>
            <a:r>
              <a:rPr lang="en-US" sz="1800" b="1"/>
              <a:t>2048x1536</a:t>
            </a:r>
            <a:r>
              <a:rPr lang="en-US" sz="1800"/>
              <a:t>.</a:t>
            </a:r>
          </a:p>
          <a:p>
            <a:pPr marL="514350" indent="-514350">
              <a:buAutoNum type="arabicParenBoth"/>
            </a:pPr>
            <a:r>
              <a:rPr lang="en-US" sz="1800"/>
              <a:t>Select ‘Image’ and verify that a camera image is displayed properly. </a:t>
            </a:r>
            <a:r>
              <a:rPr lang="en-US" sz="1800" b="1"/>
              <a:t>Downloading the image will take several seconds.</a:t>
            </a:r>
          </a:p>
          <a:p>
            <a:pPr marL="514350" indent="-514350">
              <a:buAutoNum type="arabicParenBoth"/>
            </a:pPr>
            <a:r>
              <a:rPr lang="en-US" sz="1800"/>
              <a:t>You can download the image to your computer using the ‘</a:t>
            </a:r>
            <a:r>
              <a:rPr lang="en-US" sz="1800" b="1" err="1"/>
              <a:t>SaveImage</a:t>
            </a:r>
            <a:r>
              <a:rPr lang="en-US" sz="1800"/>
              <a:t>’ button.</a:t>
            </a:r>
          </a:p>
        </p:txBody>
      </p:sp>
      <p:sp>
        <p:nvSpPr>
          <p:cNvPr id="4" name="Footer Placeholder 3">
            <a:extLst>
              <a:ext uri="{FF2B5EF4-FFF2-40B4-BE49-F238E27FC236}">
                <a16:creationId xmlns:a16="http://schemas.microsoft.com/office/drawing/2014/main" id="{FF081A50-F673-6935-5259-64039690FD61}"/>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9D65976D-AD22-CE19-FDE7-00F6B268D83D}"/>
              </a:ext>
            </a:extLst>
          </p:cNvPr>
          <p:cNvSpPr>
            <a:spLocks noGrp="1"/>
          </p:cNvSpPr>
          <p:nvPr>
            <p:ph type="sldNum" sz="quarter" idx="12"/>
          </p:nvPr>
        </p:nvSpPr>
        <p:spPr/>
        <p:txBody>
          <a:bodyPr/>
          <a:lstStyle/>
          <a:p>
            <a:fld id="{9A3029B7-FE6B-4680-9049-80E8298A0825}" type="slidenum">
              <a:rPr lang="en-US" smtClean="0"/>
              <a:t>11</a:t>
            </a:fld>
            <a:endParaRPr lang="en-US"/>
          </a:p>
        </p:txBody>
      </p:sp>
      <p:pic>
        <p:nvPicPr>
          <p:cNvPr id="6" name="Picture 5">
            <a:extLst>
              <a:ext uri="{FF2B5EF4-FFF2-40B4-BE49-F238E27FC236}">
                <a16:creationId xmlns:a16="http://schemas.microsoft.com/office/drawing/2014/main" id="{5A639A9F-2B88-144B-4C0E-1828DF2C00AE}"/>
              </a:ext>
            </a:extLst>
          </p:cNvPr>
          <p:cNvPicPr>
            <a:picLocks noChangeAspect="1"/>
          </p:cNvPicPr>
          <p:nvPr/>
        </p:nvPicPr>
        <p:blipFill>
          <a:blip r:embed="rId2"/>
          <a:stretch>
            <a:fillRect/>
          </a:stretch>
        </p:blipFill>
        <p:spPr>
          <a:xfrm>
            <a:off x="6944576" y="1318732"/>
            <a:ext cx="876422" cy="743054"/>
          </a:xfrm>
          <a:prstGeom prst="rect">
            <a:avLst/>
          </a:prstGeom>
        </p:spPr>
      </p:pic>
      <p:pic>
        <p:nvPicPr>
          <p:cNvPr id="10" name="Picture 9">
            <a:extLst>
              <a:ext uri="{FF2B5EF4-FFF2-40B4-BE49-F238E27FC236}">
                <a16:creationId xmlns:a16="http://schemas.microsoft.com/office/drawing/2014/main" id="{5F9E32BA-68A2-020C-1B5C-570A44DBD066}"/>
              </a:ext>
            </a:extLst>
          </p:cNvPr>
          <p:cNvPicPr>
            <a:picLocks noChangeAspect="1"/>
          </p:cNvPicPr>
          <p:nvPr/>
        </p:nvPicPr>
        <p:blipFill>
          <a:blip r:embed="rId3"/>
          <a:stretch>
            <a:fillRect/>
          </a:stretch>
        </p:blipFill>
        <p:spPr>
          <a:xfrm>
            <a:off x="5757701" y="2496960"/>
            <a:ext cx="3250173" cy="3198031"/>
          </a:xfrm>
          <a:prstGeom prst="rect">
            <a:avLst/>
          </a:prstGeom>
        </p:spPr>
      </p:pic>
      <p:sp>
        <p:nvSpPr>
          <p:cNvPr id="11" name="Content Placeholder 5">
            <a:extLst>
              <a:ext uri="{FF2B5EF4-FFF2-40B4-BE49-F238E27FC236}">
                <a16:creationId xmlns:a16="http://schemas.microsoft.com/office/drawing/2014/main" id="{95134D05-89AA-A770-69A1-DEFB42A41614}"/>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b="1">
                <a:solidFill>
                  <a:srgbClr val="00B0F0"/>
                </a:solidFill>
              </a:rPr>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3484817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88F87-321D-E575-980E-78B719929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5B655F-0B53-8985-0A9E-D266B2105A70}"/>
              </a:ext>
            </a:extLst>
          </p:cNvPr>
          <p:cNvSpPr>
            <a:spLocks noGrp="1"/>
          </p:cNvSpPr>
          <p:nvPr>
            <p:ph type="title"/>
          </p:nvPr>
        </p:nvSpPr>
        <p:spPr/>
        <p:txBody>
          <a:bodyPr/>
          <a:lstStyle/>
          <a:p>
            <a:r>
              <a:rPr lang="en-US" b="1"/>
              <a:t>Task 5 – Collect </a:t>
            </a:r>
            <a:r>
              <a:rPr lang="en-US" b="1" err="1"/>
              <a:t>ArduCam</a:t>
            </a:r>
            <a:r>
              <a:rPr lang="en-US" b="1"/>
              <a:t> Images</a:t>
            </a:r>
          </a:p>
        </p:txBody>
      </p:sp>
      <p:sp>
        <p:nvSpPr>
          <p:cNvPr id="3" name="Content Placeholder 2">
            <a:extLst>
              <a:ext uri="{FF2B5EF4-FFF2-40B4-BE49-F238E27FC236}">
                <a16:creationId xmlns:a16="http://schemas.microsoft.com/office/drawing/2014/main" id="{4E5421CD-9325-206B-F924-9A8EB050FF57}"/>
              </a:ext>
            </a:extLst>
          </p:cNvPr>
          <p:cNvSpPr>
            <a:spLocks noGrp="1"/>
          </p:cNvSpPr>
          <p:nvPr>
            <p:ph idx="1"/>
          </p:nvPr>
        </p:nvSpPr>
        <p:spPr>
          <a:xfrm>
            <a:off x="1106340" y="1002506"/>
            <a:ext cx="7886700" cy="5645943"/>
          </a:xfrm>
        </p:spPr>
        <p:txBody>
          <a:bodyPr>
            <a:normAutofit/>
          </a:bodyPr>
          <a:lstStyle/>
          <a:p>
            <a:pPr marL="0" indent="0">
              <a:buNone/>
            </a:pPr>
            <a:r>
              <a:rPr lang="en-US" sz="1600" b="1"/>
              <a:t>Use your camera to record images at distances of 0.5 m, 1 m, 2m, and 5m. </a:t>
            </a:r>
          </a:p>
          <a:p>
            <a:pPr marL="0" indent="0">
              <a:buNone/>
            </a:pPr>
            <a:endParaRPr lang="en-US" sz="1600"/>
          </a:p>
          <a:p>
            <a:pPr marL="514350" indent="-514350">
              <a:buAutoNum type="arabicParenBoth"/>
            </a:pPr>
            <a:r>
              <a:rPr lang="en-US" sz="1600"/>
              <a:t>Position the camera and resolution chart so that they are perpendicular at the same height and 0.5 m apart. Ensure the chart is illuminated evenly and both objects are sufficiently supported to remain still during image capture. </a:t>
            </a:r>
          </a:p>
          <a:p>
            <a:pPr marL="514350" indent="-514350">
              <a:buAutoNum type="arabicParenBoth"/>
            </a:pPr>
            <a:endParaRPr lang="en-US" sz="1600"/>
          </a:p>
          <a:p>
            <a:pPr marL="514350" indent="-514350">
              <a:buAutoNum type="arabicParenBoth"/>
            </a:pPr>
            <a:r>
              <a:rPr lang="en-US" sz="1600"/>
              <a:t>Click “Image” to take the image. Wait a few seconds for the data to transfer back to the computer. </a:t>
            </a:r>
          </a:p>
          <a:p>
            <a:pPr marL="514350" indent="-514350">
              <a:buAutoNum type="arabicParenBoth"/>
            </a:pPr>
            <a:endParaRPr lang="en-US" sz="1600"/>
          </a:p>
          <a:p>
            <a:pPr marL="514350" indent="-514350">
              <a:buAutoNum type="arabicParenBoth"/>
            </a:pPr>
            <a:r>
              <a:rPr lang="en-US" sz="1600" b="1"/>
              <a:t>Focus the camera. </a:t>
            </a:r>
            <a:r>
              <a:rPr lang="en-US" sz="1600"/>
              <a:t>Subjectively assess the focus of the image. Rotate the lens slightly to attempt to improve the focus. (use the mark on the lens to assess how far you’ve rotated the lens). Re-take a photo and assess the focus again. Repeat this process until you’ve improved the focus as much as possible. </a:t>
            </a:r>
          </a:p>
          <a:p>
            <a:pPr marL="514350" indent="-514350">
              <a:buAutoNum type="arabicParenBoth"/>
            </a:pPr>
            <a:endParaRPr lang="en-US" sz="1600"/>
          </a:p>
          <a:p>
            <a:pPr marL="514350" indent="-514350">
              <a:buAutoNum type="arabicParenBoth"/>
            </a:pPr>
            <a:r>
              <a:rPr lang="en-US" sz="1600"/>
              <a:t>Once you are satisfied with the focus, capture and download an image for your </a:t>
            </a:r>
            <a:r>
              <a:rPr lang="en-US" sz="1600" err="1"/>
              <a:t>postlab</a:t>
            </a:r>
            <a:r>
              <a:rPr lang="en-US" sz="1600"/>
              <a:t> analysis. Record the distance in the filename. </a:t>
            </a:r>
          </a:p>
          <a:p>
            <a:pPr marL="514350" indent="-514350">
              <a:buAutoNum type="arabicParenBoth"/>
            </a:pPr>
            <a:endParaRPr lang="en-US" sz="1600"/>
          </a:p>
          <a:p>
            <a:pPr marL="514350" indent="-514350">
              <a:buAutoNum type="arabicParenBoth"/>
            </a:pPr>
            <a:r>
              <a:rPr lang="en-US" sz="1600"/>
              <a:t>Repeat this process for the distances calculated in your prelab (1, 2, and 5 m).</a:t>
            </a:r>
          </a:p>
        </p:txBody>
      </p:sp>
      <p:sp>
        <p:nvSpPr>
          <p:cNvPr id="4" name="Footer Placeholder 3">
            <a:extLst>
              <a:ext uri="{FF2B5EF4-FFF2-40B4-BE49-F238E27FC236}">
                <a16:creationId xmlns:a16="http://schemas.microsoft.com/office/drawing/2014/main" id="{55BA5D24-1842-FF52-9005-C638774FB16A}"/>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AFDA15FA-2833-3B56-1381-273F4E94DE27}"/>
              </a:ext>
            </a:extLst>
          </p:cNvPr>
          <p:cNvSpPr>
            <a:spLocks noGrp="1"/>
          </p:cNvSpPr>
          <p:nvPr>
            <p:ph type="sldNum" sz="quarter" idx="12"/>
          </p:nvPr>
        </p:nvSpPr>
        <p:spPr/>
        <p:txBody>
          <a:bodyPr/>
          <a:lstStyle/>
          <a:p>
            <a:fld id="{9A3029B7-FE6B-4680-9049-80E8298A0825}" type="slidenum">
              <a:rPr lang="en-US" smtClean="0"/>
              <a:t>12</a:t>
            </a:fld>
            <a:endParaRPr lang="en-US"/>
          </a:p>
        </p:txBody>
      </p:sp>
      <p:sp>
        <p:nvSpPr>
          <p:cNvPr id="8" name="Content Placeholder 5">
            <a:extLst>
              <a:ext uri="{FF2B5EF4-FFF2-40B4-BE49-F238E27FC236}">
                <a16:creationId xmlns:a16="http://schemas.microsoft.com/office/drawing/2014/main" id="{E60E5F3B-9EDA-653E-7DE8-8690C184D76D}"/>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b="1">
                <a:solidFill>
                  <a:srgbClr val="00B0F0"/>
                </a:solidFill>
              </a:rPr>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3987526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E3BA5-FE9D-2DB4-C4D7-687ABA4F0B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C5468-44A0-20A5-4D71-80FBCA909067}"/>
              </a:ext>
            </a:extLst>
          </p:cNvPr>
          <p:cNvSpPr>
            <a:spLocks noGrp="1"/>
          </p:cNvSpPr>
          <p:nvPr>
            <p:ph type="title"/>
          </p:nvPr>
        </p:nvSpPr>
        <p:spPr/>
        <p:txBody>
          <a:bodyPr>
            <a:noAutofit/>
          </a:bodyPr>
          <a:lstStyle/>
          <a:p>
            <a:r>
              <a:rPr lang="en-US" sz="2400" b="1"/>
              <a:t>Task 6 – Examine Resolution at Edges of Image</a:t>
            </a:r>
          </a:p>
        </p:txBody>
      </p:sp>
      <p:sp>
        <p:nvSpPr>
          <p:cNvPr id="3" name="Content Placeholder 2">
            <a:extLst>
              <a:ext uri="{FF2B5EF4-FFF2-40B4-BE49-F238E27FC236}">
                <a16:creationId xmlns:a16="http://schemas.microsoft.com/office/drawing/2014/main" id="{0A76D57C-C1F7-8905-C961-841CE02DE360}"/>
              </a:ext>
            </a:extLst>
          </p:cNvPr>
          <p:cNvSpPr>
            <a:spLocks noGrp="1"/>
          </p:cNvSpPr>
          <p:nvPr>
            <p:ph idx="1"/>
          </p:nvPr>
        </p:nvSpPr>
        <p:spPr>
          <a:xfrm>
            <a:off x="1106340" y="1002506"/>
            <a:ext cx="7886700" cy="5645943"/>
          </a:xfrm>
        </p:spPr>
        <p:txBody>
          <a:bodyPr>
            <a:normAutofit/>
          </a:bodyPr>
          <a:lstStyle/>
          <a:p>
            <a:pPr marL="514350" indent="-514350">
              <a:buAutoNum type="arabicParenBoth"/>
            </a:pPr>
            <a:r>
              <a:rPr lang="en-US"/>
              <a:t>Capture a few images where the resolution scale is placed near the corner of the image. In your </a:t>
            </a:r>
            <a:r>
              <a:rPr lang="en-US" err="1"/>
              <a:t>postlab</a:t>
            </a:r>
            <a:r>
              <a:rPr lang="en-US"/>
              <a:t> analysis, you’ll examine if the resolution at the corners of the image is better or worse than in the center. </a:t>
            </a:r>
          </a:p>
        </p:txBody>
      </p:sp>
      <p:sp>
        <p:nvSpPr>
          <p:cNvPr id="4" name="Footer Placeholder 3">
            <a:extLst>
              <a:ext uri="{FF2B5EF4-FFF2-40B4-BE49-F238E27FC236}">
                <a16:creationId xmlns:a16="http://schemas.microsoft.com/office/drawing/2014/main" id="{9BDFB8FD-F704-ECB7-1517-B4C6F6826EE3}"/>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E0F18737-8CE8-485E-3BF6-C86463F37059}"/>
              </a:ext>
            </a:extLst>
          </p:cNvPr>
          <p:cNvSpPr>
            <a:spLocks noGrp="1"/>
          </p:cNvSpPr>
          <p:nvPr>
            <p:ph type="sldNum" sz="quarter" idx="12"/>
          </p:nvPr>
        </p:nvSpPr>
        <p:spPr/>
        <p:txBody>
          <a:bodyPr/>
          <a:lstStyle/>
          <a:p>
            <a:fld id="{9A3029B7-FE6B-4680-9049-80E8298A0825}" type="slidenum">
              <a:rPr lang="en-US" smtClean="0"/>
              <a:t>13</a:t>
            </a:fld>
            <a:endParaRPr lang="en-US"/>
          </a:p>
        </p:txBody>
      </p:sp>
      <p:sp>
        <p:nvSpPr>
          <p:cNvPr id="6" name="Content Placeholder 5">
            <a:extLst>
              <a:ext uri="{FF2B5EF4-FFF2-40B4-BE49-F238E27FC236}">
                <a16:creationId xmlns:a16="http://schemas.microsoft.com/office/drawing/2014/main" id="{4335CF21-127A-B99B-D770-0232C0F23CD3}"/>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b="1">
                <a:solidFill>
                  <a:srgbClr val="00B0F0"/>
                </a:solidFill>
              </a:rPr>
              <a:t>Task 6</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3757492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9EADA-02F8-5847-F017-37991CF47047}"/>
              </a:ext>
            </a:extLst>
          </p:cNvPr>
          <p:cNvSpPr>
            <a:spLocks noGrp="1"/>
          </p:cNvSpPr>
          <p:nvPr>
            <p:ph type="title"/>
          </p:nvPr>
        </p:nvSpPr>
        <p:spPr/>
        <p:txBody>
          <a:bodyPr/>
          <a:lstStyle/>
          <a:p>
            <a:r>
              <a:rPr lang="en-US" b="1"/>
              <a:t>Turn-In Requirements</a:t>
            </a:r>
          </a:p>
        </p:txBody>
      </p:sp>
      <p:sp>
        <p:nvSpPr>
          <p:cNvPr id="3" name="Content Placeholder 2">
            <a:extLst>
              <a:ext uri="{FF2B5EF4-FFF2-40B4-BE49-F238E27FC236}">
                <a16:creationId xmlns:a16="http://schemas.microsoft.com/office/drawing/2014/main" id="{D89B9D66-E144-AAC5-D572-975EA3A728F9}"/>
              </a:ext>
            </a:extLst>
          </p:cNvPr>
          <p:cNvSpPr>
            <a:spLocks noGrp="1"/>
          </p:cNvSpPr>
          <p:nvPr>
            <p:ph idx="1"/>
          </p:nvPr>
        </p:nvSpPr>
        <p:spPr>
          <a:xfrm>
            <a:off x="1066990" y="861552"/>
            <a:ext cx="8030643" cy="5134895"/>
          </a:xfrm>
        </p:spPr>
        <p:txBody>
          <a:bodyPr>
            <a:normAutofit/>
          </a:bodyPr>
          <a:lstStyle/>
          <a:p>
            <a:pPr marL="0" indent="0">
              <a:buNone/>
            </a:pPr>
            <a:r>
              <a:rPr lang="en-US" sz="1300" dirty="0"/>
              <a:t>For this lab, you’ll complete a </a:t>
            </a:r>
            <a:r>
              <a:rPr lang="en-US" sz="1300" dirty="0" err="1"/>
              <a:t>Postlab</a:t>
            </a:r>
            <a:r>
              <a:rPr lang="en-US" sz="1300" dirty="0"/>
              <a:t> analysis of your resolution data, comparing it to theoretical resolution of the camera. For your calculations, use values from </a:t>
            </a:r>
            <a:r>
              <a:rPr lang="en-US" sz="1300" b="1" dirty="0"/>
              <a:t>Reference – </a:t>
            </a:r>
            <a:r>
              <a:rPr lang="en-US" sz="1300" b="1" dirty="0" err="1"/>
              <a:t>ArduCam</a:t>
            </a:r>
            <a:r>
              <a:rPr lang="en-US" sz="1300" b="1" dirty="0"/>
              <a:t> Mega 3MP SPI Camera </a:t>
            </a:r>
            <a:r>
              <a:rPr lang="en-US" sz="1300" dirty="0"/>
              <a:t>slide.</a:t>
            </a:r>
          </a:p>
          <a:p>
            <a:pPr marL="342900" indent="-342900">
              <a:buFont typeface="Arial" panose="020B0604020202020204" pitchFamily="34" charset="0"/>
              <a:buAutoNum type="arabicParenBoth"/>
            </a:pPr>
            <a:r>
              <a:rPr lang="en-US" sz="1300" dirty="0"/>
              <a:t>Calculate the expected diffraction resolution and pixel resolution for the camera using the information provided in the reference slides at distances of 0.5m, 1m, 2m, 5m, and 200km. Show all work and clearly state all assumptions. Is the camera diffraction-limited or pixel-limited? </a:t>
            </a:r>
          </a:p>
          <a:p>
            <a:pPr marL="342900" indent="-342900">
              <a:buFont typeface="Arial" panose="020B0604020202020204" pitchFamily="34" charset="0"/>
              <a:buAutoNum type="arabicParenBoth"/>
            </a:pPr>
            <a:r>
              <a:rPr lang="en-US" sz="1300" dirty="0"/>
              <a:t>Display data from (1) along with the actual resolutions you found for each distance during the lab (see Task 3 for how to determine resolution) in a table as shown below. </a:t>
            </a:r>
          </a:p>
          <a:p>
            <a:pPr marL="342900" indent="-342900">
              <a:buFont typeface="Arial" panose="020B0604020202020204" pitchFamily="34" charset="0"/>
              <a:buAutoNum type="arabicParenBoth"/>
            </a:pPr>
            <a:r>
              <a:rPr lang="en-US" sz="1300" dirty="0"/>
              <a:t>Postulate at </a:t>
            </a:r>
            <a:r>
              <a:rPr lang="en-US" sz="1300"/>
              <a:t>least three </a:t>
            </a:r>
            <a:r>
              <a:rPr lang="en-US" sz="1300" dirty="0"/>
              <a:t>reasons for the differences between the theoretical and actual resolution. Do you think the actual camera could detect a city block at 200km altitude of KestrelSAT? </a:t>
            </a:r>
          </a:p>
          <a:p>
            <a:pPr marL="342900" indent="-342900">
              <a:buFont typeface="Arial" panose="020B0604020202020204" pitchFamily="34" charset="0"/>
              <a:buAutoNum type="arabicParenBoth"/>
            </a:pPr>
            <a:r>
              <a:rPr lang="en-US" sz="1300" dirty="0"/>
              <a:t>Is your resolution different in the corners vs. the center of the image? If so, discuss possible causes.</a:t>
            </a:r>
          </a:p>
          <a:p>
            <a:pPr marL="457200" lvl="1" indent="-457200" algn="ctr">
              <a:buNone/>
            </a:pPr>
            <a:r>
              <a:rPr lang="en-US" sz="1300" dirty="0"/>
              <a:t>----------------------------------------------------------------------------------</a:t>
            </a:r>
          </a:p>
          <a:p>
            <a:pPr marL="342900" indent="-342900">
              <a:buFont typeface="Arial" panose="020B0604020202020204" pitchFamily="34" charset="0"/>
              <a:buAutoNum type="arabicParenBoth"/>
            </a:pPr>
            <a:r>
              <a:rPr lang="en-US" sz="1300" dirty="0"/>
              <a:t>KestrelSAT (orbit altitude = 200km) must be able to detect Chinese aircraft carriers in the south pacific. Using your best judgment (simple google searches ok, do not use GenAI), determine a resolution requirement for this task and describe your rationale for it. Using the same </a:t>
            </a:r>
            <a:r>
              <a:rPr lang="en-US" sz="1300" dirty="0" err="1"/>
              <a:t>ArduCam</a:t>
            </a:r>
            <a:r>
              <a:rPr lang="en-US" sz="1300" dirty="0"/>
              <a:t> image sensor as is currently installed, determine parameters for a new lens (focal length and aperture diameter) to meet this requirement. What is the swath width for this camera setup? Show all work and clearly state all assumptions. </a:t>
            </a:r>
          </a:p>
        </p:txBody>
      </p:sp>
      <p:sp>
        <p:nvSpPr>
          <p:cNvPr id="4" name="Footer Placeholder 3">
            <a:extLst>
              <a:ext uri="{FF2B5EF4-FFF2-40B4-BE49-F238E27FC236}">
                <a16:creationId xmlns:a16="http://schemas.microsoft.com/office/drawing/2014/main" id="{6E7BCA3C-78A2-5C2F-8D54-248BFDD024B2}"/>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C2850670-004D-10B9-EBA0-0B0B2367E5DC}"/>
              </a:ext>
            </a:extLst>
          </p:cNvPr>
          <p:cNvSpPr>
            <a:spLocks noGrp="1"/>
          </p:cNvSpPr>
          <p:nvPr>
            <p:ph type="sldNum" sz="quarter" idx="12"/>
          </p:nvPr>
        </p:nvSpPr>
        <p:spPr/>
        <p:txBody>
          <a:bodyPr/>
          <a:lstStyle/>
          <a:p>
            <a:fld id="{9A3029B7-FE6B-4680-9049-80E8298A0825}" type="slidenum">
              <a:rPr lang="en-US" smtClean="0"/>
              <a:t>14</a:t>
            </a:fld>
            <a:endParaRPr lang="en-US"/>
          </a:p>
        </p:txBody>
      </p:sp>
      <p:sp>
        <p:nvSpPr>
          <p:cNvPr id="8" name="Content Placeholder 5">
            <a:extLst>
              <a:ext uri="{FF2B5EF4-FFF2-40B4-BE49-F238E27FC236}">
                <a16:creationId xmlns:a16="http://schemas.microsoft.com/office/drawing/2014/main" id="{5268BA8C-3B6D-3126-81AA-F97282F1CCFE}"/>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b="1">
                <a:solidFill>
                  <a:srgbClr val="00B0F0"/>
                </a:solidFill>
              </a:rPr>
              <a:t>Turn-in </a:t>
            </a:r>
            <a:r>
              <a:rPr lang="en-US" sz="1200" b="1" err="1">
                <a:solidFill>
                  <a:srgbClr val="00B0F0"/>
                </a:solidFill>
              </a:rPr>
              <a:t>Reqt’s</a:t>
            </a:r>
            <a:endParaRPr lang="en-US" sz="1200" b="1">
              <a:solidFill>
                <a:srgbClr val="00B0F0"/>
              </a:solidFill>
            </a:endParaRPr>
          </a:p>
          <a:p>
            <a:pPr marL="0" indent="0">
              <a:buNone/>
            </a:pPr>
            <a:endParaRPr lang="en-US" sz="1200"/>
          </a:p>
        </p:txBody>
      </p:sp>
      <p:sp>
        <p:nvSpPr>
          <p:cNvPr id="6" name="Content Placeholder 7">
            <a:extLst>
              <a:ext uri="{FF2B5EF4-FFF2-40B4-BE49-F238E27FC236}">
                <a16:creationId xmlns:a16="http://schemas.microsoft.com/office/drawing/2014/main" id="{2E21F2F1-D64F-4251-6742-CEE8379B82CF}"/>
              </a:ext>
            </a:extLst>
          </p:cNvPr>
          <p:cNvSpPr txBox="1">
            <a:spLocks/>
          </p:cNvSpPr>
          <p:nvPr/>
        </p:nvSpPr>
        <p:spPr>
          <a:xfrm>
            <a:off x="356516" y="5334799"/>
            <a:ext cx="2669828" cy="841290"/>
          </a:xfrm>
          <a:prstGeom prst="rect">
            <a:avLst/>
          </a:prstGeom>
          <a:solidFill>
            <a:schemeClr val="accent2">
              <a:lumMod val="40000"/>
              <a:lumOff val="6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spcBef>
                <a:spcPts val="0"/>
              </a:spcBef>
              <a:buFont typeface="Arial" panose="020B0604020202020204" pitchFamily="34" charset="0"/>
              <a:buNone/>
            </a:pPr>
            <a:r>
              <a:rPr lang="en-US" sz="1100" b="1" u="sng">
                <a:latin typeface="Segoe UI" panose="020B0502040204020203" pitchFamily="34" charset="0"/>
                <a:cs typeface="Segoe UI" panose="020B0502040204020203" pitchFamily="34" charset="0"/>
              </a:rPr>
              <a:t>Authorized Resources - POSTLAB</a:t>
            </a:r>
            <a:endParaRPr lang="en-US" sz="1100" b="1">
              <a:solidFill>
                <a:srgbClr val="FF0000"/>
              </a:solidFill>
              <a:latin typeface="Segoe UI" panose="020B0502040204020203" pitchFamily="34" charset="0"/>
              <a:cs typeface="Segoe UI" panose="020B0502040204020203" pitchFamily="34" charset="0"/>
            </a:endParaRPr>
          </a:p>
          <a:p>
            <a:pPr>
              <a:spcBef>
                <a:spcPts val="0"/>
              </a:spcBef>
            </a:pPr>
            <a:r>
              <a:rPr lang="en-US" sz="1100" b="1" err="1">
                <a:solidFill>
                  <a:srgbClr val="FF0000"/>
                </a:solidFill>
                <a:latin typeface="Segoe UI" panose="020B0502040204020203" pitchFamily="34" charset="0"/>
                <a:cs typeface="Segoe UI" panose="020B0502040204020203" pitchFamily="34" charset="0"/>
              </a:rPr>
              <a:t>Postlab</a:t>
            </a:r>
            <a:r>
              <a:rPr lang="en-US" sz="1100" b="1">
                <a:solidFill>
                  <a:srgbClr val="FF0000"/>
                </a:solidFill>
                <a:latin typeface="Segoe UI" panose="020B0502040204020203" pitchFamily="34" charset="0"/>
                <a:cs typeface="Segoe UI" panose="020B0502040204020203" pitchFamily="34" charset="0"/>
              </a:rPr>
              <a:t> turn-in is individual effort</a:t>
            </a:r>
          </a:p>
          <a:p>
            <a:pPr marL="223838" indent="-223838">
              <a:spcBef>
                <a:spcPts val="0"/>
              </a:spcBef>
            </a:pPr>
            <a:r>
              <a:rPr lang="en-US" sz="1100" b="1">
                <a:highlight>
                  <a:srgbClr val="FFFF00"/>
                </a:highlight>
                <a:latin typeface="Segoe UI" panose="020B0502040204020203" pitchFamily="34" charset="0"/>
                <a:cs typeface="Segoe UI" panose="020B0502040204020203" pitchFamily="34" charset="0"/>
              </a:rPr>
              <a:t>Generative AI Level 0 Allowed (</a:t>
            </a:r>
            <a:r>
              <a:rPr lang="en-US" sz="1100" b="1">
                <a:solidFill>
                  <a:srgbClr val="FF0000"/>
                </a:solidFill>
                <a:highlight>
                  <a:srgbClr val="FFFF00"/>
                </a:highlight>
                <a:latin typeface="Segoe UI" panose="020B0502040204020203" pitchFamily="34" charset="0"/>
                <a:cs typeface="Segoe UI" panose="020B0502040204020203" pitchFamily="34" charset="0"/>
              </a:rPr>
              <a:t>G</a:t>
            </a:r>
            <a:r>
              <a:rPr lang="en-US" sz="1100" b="1" i="1">
                <a:solidFill>
                  <a:srgbClr val="FF0000"/>
                </a:solidFill>
                <a:highlight>
                  <a:srgbClr val="FFFF00"/>
                </a:highlight>
                <a:latin typeface="Segoe UI" panose="020B0502040204020203" pitchFamily="34" charset="0"/>
                <a:cs typeface="Segoe UI" panose="020B0502040204020203" pitchFamily="34" charset="0"/>
              </a:rPr>
              <a:t>enAI not allowed</a:t>
            </a:r>
            <a:r>
              <a:rPr lang="en-US" sz="1100" b="1">
                <a:highlight>
                  <a:srgbClr val="FFFF00"/>
                </a:highlight>
                <a:latin typeface="Segoe UI" panose="020B0502040204020203" pitchFamily="34" charset="0"/>
                <a:cs typeface="Segoe UI" panose="020B0502040204020203" pitchFamily="34" charset="0"/>
              </a:rPr>
              <a:t>)</a:t>
            </a:r>
          </a:p>
          <a:p>
            <a:pPr marL="0" indent="-223838">
              <a:spcBef>
                <a:spcPts val="0"/>
              </a:spcBef>
            </a:pPr>
            <a:r>
              <a:rPr lang="en-US" sz="1100">
                <a:latin typeface="Segoe UI" panose="020B0502040204020203" pitchFamily="34" charset="0"/>
                <a:cs typeface="Segoe UI" panose="020B0502040204020203" pitchFamily="34" charset="0"/>
              </a:rPr>
              <a:t>Astro 331 course notes/ instructor </a:t>
            </a:r>
          </a:p>
        </p:txBody>
      </p:sp>
      <p:sp>
        <p:nvSpPr>
          <p:cNvPr id="7" name="Content Placeholder 7">
            <a:extLst>
              <a:ext uri="{FF2B5EF4-FFF2-40B4-BE49-F238E27FC236}">
                <a16:creationId xmlns:a16="http://schemas.microsoft.com/office/drawing/2014/main" id="{C89D43D4-F276-C657-67DD-868CE89972E9}"/>
              </a:ext>
            </a:extLst>
          </p:cNvPr>
          <p:cNvSpPr txBox="1">
            <a:spLocks/>
          </p:cNvSpPr>
          <p:nvPr/>
        </p:nvSpPr>
        <p:spPr>
          <a:xfrm>
            <a:off x="6562013" y="5185393"/>
            <a:ext cx="2391678" cy="1054076"/>
          </a:xfrm>
          <a:prstGeom prst="rect">
            <a:avLst/>
          </a:prstGeom>
          <a:solidFill>
            <a:schemeClr val="bg2">
              <a:lumMod val="90000"/>
            </a:schemeClr>
          </a:solidFill>
          <a:ln>
            <a:solidFill>
              <a:schemeClr val="tx1"/>
            </a:solidFill>
          </a:ln>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spcBef>
                <a:spcPts val="0"/>
              </a:spcBef>
              <a:buFont typeface="Arial" panose="020B0604020202020204" pitchFamily="34" charset="0"/>
              <a:buNone/>
            </a:pPr>
            <a:r>
              <a:rPr lang="en-US" sz="1200" b="1" u="sng">
                <a:latin typeface="Segoe UI" panose="020B0502040204020203" pitchFamily="34" charset="0"/>
                <a:cs typeface="Segoe UI" panose="020B0502040204020203" pitchFamily="34" charset="0"/>
              </a:rPr>
              <a:t>Turn-In Format</a:t>
            </a:r>
            <a:endParaRPr lang="en-US" sz="1200" b="1">
              <a:solidFill>
                <a:srgbClr val="FF0000"/>
              </a:solidFill>
              <a:latin typeface="Segoe UI" panose="020B0502040204020203" pitchFamily="34" charset="0"/>
              <a:cs typeface="Segoe UI" panose="020B0502040204020203" pitchFamily="34" charset="0"/>
            </a:endParaRPr>
          </a:p>
          <a:p>
            <a:pPr marL="223838" indent="-223838">
              <a:spcBef>
                <a:spcPts val="0"/>
              </a:spcBef>
            </a:pPr>
            <a:r>
              <a:rPr lang="en-US" sz="1200">
                <a:latin typeface="Segoe UI" panose="020B0502040204020203" pitchFamily="34" charset="0"/>
                <a:cs typeface="Segoe UI" panose="020B0502040204020203" pitchFamily="34" charset="0"/>
              </a:rPr>
              <a:t>Provide answers digitally. </a:t>
            </a:r>
          </a:p>
          <a:p>
            <a:pPr marL="223838" indent="-223838">
              <a:spcBef>
                <a:spcPts val="0"/>
              </a:spcBef>
            </a:pPr>
            <a:r>
              <a:rPr lang="en-US" sz="1200">
                <a:latin typeface="Segoe UI" panose="020B0502040204020203" pitchFamily="34" charset="0"/>
                <a:cs typeface="Segoe UI" panose="020B0502040204020203" pitchFamily="34" charset="0"/>
              </a:rPr>
              <a:t>Math work may be handwritten. </a:t>
            </a:r>
          </a:p>
          <a:p>
            <a:pPr marL="223838" indent="-223838">
              <a:spcBef>
                <a:spcPts val="0"/>
              </a:spcBef>
            </a:pPr>
            <a:r>
              <a:rPr lang="en-US" sz="1200">
                <a:latin typeface="Segoe UI" panose="020B0502040204020203" pitchFamily="34" charset="0"/>
                <a:cs typeface="Segoe UI" panose="020B0502040204020203" pitchFamily="34" charset="0"/>
              </a:rPr>
              <a:t>Include a documentation statement.</a:t>
            </a:r>
          </a:p>
          <a:p>
            <a:pPr marL="223838" indent="-223838">
              <a:spcBef>
                <a:spcPts val="0"/>
              </a:spcBef>
            </a:pPr>
            <a:endParaRPr lang="en-US" sz="1200">
              <a:latin typeface="Segoe UI" panose="020B0502040204020203" pitchFamily="34" charset="0"/>
              <a:cs typeface="Segoe UI" panose="020B0502040204020203" pitchFamily="34" charset="0"/>
            </a:endParaRPr>
          </a:p>
        </p:txBody>
      </p:sp>
      <p:graphicFrame>
        <p:nvGraphicFramePr>
          <p:cNvPr id="9" name="Table 8">
            <a:extLst>
              <a:ext uri="{FF2B5EF4-FFF2-40B4-BE49-F238E27FC236}">
                <a16:creationId xmlns:a16="http://schemas.microsoft.com/office/drawing/2014/main" id="{D9645584-5900-6178-CB23-E4FF00A28607}"/>
              </a:ext>
            </a:extLst>
          </p:cNvPr>
          <p:cNvGraphicFramePr>
            <a:graphicFrameLocks noGrp="1"/>
          </p:cNvGraphicFramePr>
          <p:nvPr>
            <p:extLst>
              <p:ext uri="{D42A27DB-BD31-4B8C-83A1-F6EECF244321}">
                <p14:modId xmlns:p14="http://schemas.microsoft.com/office/powerpoint/2010/main" val="2908011566"/>
              </p:ext>
            </p:extLst>
          </p:nvPr>
        </p:nvGraphicFramePr>
        <p:xfrm>
          <a:off x="3251129" y="4852341"/>
          <a:ext cx="3086099" cy="1961371"/>
        </p:xfrm>
        <a:graphic>
          <a:graphicData uri="http://schemas.openxmlformats.org/drawingml/2006/table">
            <a:tbl>
              <a:tblPr firstRow="1" bandRow="1">
                <a:tableStyleId>{5C22544A-7EE6-4342-B048-85BDC9FD1C3A}</a:tableStyleId>
              </a:tblPr>
              <a:tblGrid>
                <a:gridCol w="679113">
                  <a:extLst>
                    <a:ext uri="{9D8B030D-6E8A-4147-A177-3AD203B41FA5}">
                      <a16:colId xmlns:a16="http://schemas.microsoft.com/office/drawing/2014/main" val="3037947117"/>
                    </a:ext>
                  </a:extLst>
                </a:gridCol>
                <a:gridCol w="833849">
                  <a:extLst>
                    <a:ext uri="{9D8B030D-6E8A-4147-A177-3AD203B41FA5}">
                      <a16:colId xmlns:a16="http://schemas.microsoft.com/office/drawing/2014/main" val="3419052751"/>
                    </a:ext>
                  </a:extLst>
                </a:gridCol>
                <a:gridCol w="842445">
                  <a:extLst>
                    <a:ext uri="{9D8B030D-6E8A-4147-A177-3AD203B41FA5}">
                      <a16:colId xmlns:a16="http://schemas.microsoft.com/office/drawing/2014/main" val="3019777133"/>
                    </a:ext>
                  </a:extLst>
                </a:gridCol>
                <a:gridCol w="730692">
                  <a:extLst>
                    <a:ext uri="{9D8B030D-6E8A-4147-A177-3AD203B41FA5}">
                      <a16:colId xmlns:a16="http://schemas.microsoft.com/office/drawing/2014/main" val="3678292697"/>
                    </a:ext>
                  </a:extLst>
                </a:gridCol>
              </a:tblGrid>
              <a:tr h="259703">
                <a:tc gridSpan="4">
                  <a:txBody>
                    <a:bodyPr/>
                    <a:lstStyle/>
                    <a:p>
                      <a:pPr algn="ctr"/>
                      <a:r>
                        <a:rPr lang="en-US" sz="900" b="1"/>
                        <a:t>Arducam Mega 3MP Camera Resolution</a:t>
                      </a:r>
                    </a:p>
                  </a:txBody>
                  <a:tcPr anchor="ctr"/>
                </a:tc>
                <a:tc hMerge="1">
                  <a:txBody>
                    <a:bodyPr/>
                    <a:lstStyle/>
                    <a:p>
                      <a:pPr algn="ctr"/>
                      <a:endParaRPr lang="en-US" sz="800" b="1"/>
                    </a:p>
                  </a:txBody>
                  <a:tcPr anchor="ctr"/>
                </a:tc>
                <a:tc hMerge="1">
                  <a:txBody>
                    <a:bodyPr/>
                    <a:lstStyle/>
                    <a:p>
                      <a:pPr algn="ctr"/>
                      <a:endParaRPr lang="en-US" sz="800" b="1"/>
                    </a:p>
                  </a:txBody>
                  <a:tcPr anchor="ctr"/>
                </a:tc>
                <a:tc hMerge="1">
                  <a:txBody>
                    <a:bodyPr/>
                    <a:lstStyle/>
                    <a:p>
                      <a:pPr algn="ctr"/>
                      <a:endParaRPr lang="en-US" sz="800" b="1"/>
                    </a:p>
                  </a:txBody>
                  <a:tcPr anchor="ctr"/>
                </a:tc>
                <a:extLst>
                  <a:ext uri="{0D108BD9-81ED-4DB2-BD59-A6C34878D82A}">
                    <a16:rowId xmlns:a16="http://schemas.microsoft.com/office/drawing/2014/main" val="3810624498"/>
                  </a:ext>
                </a:extLst>
              </a:tr>
              <a:tr h="432013">
                <a:tc>
                  <a:txBody>
                    <a:bodyPr/>
                    <a:lstStyle/>
                    <a:p>
                      <a:pPr algn="ctr"/>
                      <a:r>
                        <a:rPr lang="en-US" sz="900" b="1"/>
                        <a:t>Distance</a:t>
                      </a:r>
                    </a:p>
                  </a:txBody>
                  <a:tcPr anchor="ctr"/>
                </a:tc>
                <a:tc>
                  <a:txBody>
                    <a:bodyPr/>
                    <a:lstStyle/>
                    <a:p>
                      <a:pPr algn="ctr"/>
                      <a:r>
                        <a:rPr lang="en-US" sz="900" b="1"/>
                        <a:t>Theoretical</a:t>
                      </a:r>
                    </a:p>
                    <a:p>
                      <a:pPr algn="ctr"/>
                      <a:r>
                        <a:rPr lang="en-US" sz="900" b="1"/>
                        <a:t>Diffraction</a:t>
                      </a:r>
                    </a:p>
                  </a:txBody>
                  <a:tcPr anchor="ctr"/>
                </a:tc>
                <a:tc>
                  <a:txBody>
                    <a:bodyPr/>
                    <a:lstStyle/>
                    <a:p>
                      <a:pPr algn="ctr"/>
                      <a:r>
                        <a:rPr lang="en-US" sz="900" b="1"/>
                        <a:t>Theoretical</a:t>
                      </a:r>
                    </a:p>
                    <a:p>
                      <a:pPr algn="ctr"/>
                      <a:r>
                        <a:rPr lang="en-US" sz="900" b="1"/>
                        <a:t>Pixel</a:t>
                      </a:r>
                    </a:p>
                  </a:txBody>
                  <a:tcPr anchor="ctr"/>
                </a:tc>
                <a:tc>
                  <a:txBody>
                    <a:bodyPr/>
                    <a:lstStyle/>
                    <a:p>
                      <a:pPr algn="ctr"/>
                      <a:r>
                        <a:rPr lang="en-US" sz="900" b="1"/>
                        <a:t>Actual</a:t>
                      </a:r>
                    </a:p>
                  </a:txBody>
                  <a:tcPr anchor="ctr"/>
                </a:tc>
                <a:extLst>
                  <a:ext uri="{0D108BD9-81ED-4DB2-BD59-A6C34878D82A}">
                    <a16:rowId xmlns:a16="http://schemas.microsoft.com/office/drawing/2014/main" val="4022426582"/>
                  </a:ext>
                </a:extLst>
              </a:tr>
              <a:tr h="253931">
                <a:tc>
                  <a:txBody>
                    <a:bodyPr/>
                    <a:lstStyle/>
                    <a:p>
                      <a:pPr algn="ctr"/>
                      <a:r>
                        <a:rPr lang="en-US" sz="900" b="1"/>
                        <a:t>0.5 m</a:t>
                      </a:r>
                    </a:p>
                  </a:txBody>
                  <a:tcPr anchor="ctr"/>
                </a:tc>
                <a:tc>
                  <a:txBody>
                    <a:bodyPr/>
                    <a:lstStyle/>
                    <a:p>
                      <a:pPr algn="ctr"/>
                      <a:endParaRPr lang="en-US" sz="900" b="1"/>
                    </a:p>
                  </a:txBody>
                  <a:tcPr anchor="ctr"/>
                </a:tc>
                <a:tc>
                  <a:txBody>
                    <a:bodyPr/>
                    <a:lstStyle/>
                    <a:p>
                      <a:pPr algn="ctr"/>
                      <a:endParaRPr lang="en-US" sz="900" b="1"/>
                    </a:p>
                  </a:txBody>
                  <a:tcPr anchor="ctr"/>
                </a:tc>
                <a:tc>
                  <a:txBody>
                    <a:bodyPr/>
                    <a:lstStyle/>
                    <a:p>
                      <a:pPr algn="ctr"/>
                      <a:endParaRPr lang="en-US" sz="900" b="1"/>
                    </a:p>
                  </a:txBody>
                  <a:tcPr anchor="ctr"/>
                </a:tc>
                <a:extLst>
                  <a:ext uri="{0D108BD9-81ED-4DB2-BD59-A6C34878D82A}">
                    <a16:rowId xmlns:a16="http://schemas.microsoft.com/office/drawing/2014/main" val="1705201858"/>
                  </a:ext>
                </a:extLst>
              </a:tr>
              <a:tr h="253931">
                <a:tc>
                  <a:txBody>
                    <a:bodyPr/>
                    <a:lstStyle/>
                    <a:p>
                      <a:pPr algn="ctr"/>
                      <a:r>
                        <a:rPr lang="en-US" sz="900" b="1"/>
                        <a:t>1 m</a:t>
                      </a:r>
                    </a:p>
                  </a:txBody>
                  <a:tcPr anchor="ctr"/>
                </a:tc>
                <a:tc>
                  <a:txBody>
                    <a:bodyPr/>
                    <a:lstStyle/>
                    <a:p>
                      <a:pPr algn="ctr"/>
                      <a:endParaRPr lang="en-US" sz="900" b="1"/>
                    </a:p>
                  </a:txBody>
                  <a:tcPr anchor="ctr"/>
                </a:tc>
                <a:tc>
                  <a:txBody>
                    <a:bodyPr/>
                    <a:lstStyle/>
                    <a:p>
                      <a:pPr algn="ctr"/>
                      <a:endParaRPr lang="en-US" sz="900" b="1"/>
                    </a:p>
                  </a:txBody>
                  <a:tcPr anchor="ctr"/>
                </a:tc>
                <a:tc>
                  <a:txBody>
                    <a:bodyPr/>
                    <a:lstStyle/>
                    <a:p>
                      <a:pPr algn="ctr"/>
                      <a:endParaRPr lang="en-US" sz="900" b="1"/>
                    </a:p>
                  </a:txBody>
                  <a:tcPr anchor="ctr"/>
                </a:tc>
                <a:extLst>
                  <a:ext uri="{0D108BD9-81ED-4DB2-BD59-A6C34878D82A}">
                    <a16:rowId xmlns:a16="http://schemas.microsoft.com/office/drawing/2014/main" val="3911021823"/>
                  </a:ext>
                </a:extLst>
              </a:tr>
              <a:tr h="253931">
                <a:tc>
                  <a:txBody>
                    <a:bodyPr/>
                    <a:lstStyle/>
                    <a:p>
                      <a:pPr algn="ctr"/>
                      <a:r>
                        <a:rPr lang="en-US" sz="900" b="1"/>
                        <a:t>2 m</a:t>
                      </a:r>
                    </a:p>
                  </a:txBody>
                  <a:tcPr anchor="ctr"/>
                </a:tc>
                <a:tc>
                  <a:txBody>
                    <a:bodyPr/>
                    <a:lstStyle/>
                    <a:p>
                      <a:pPr algn="ctr"/>
                      <a:endParaRPr lang="en-US" sz="900" b="1"/>
                    </a:p>
                  </a:txBody>
                  <a:tcPr anchor="ctr"/>
                </a:tc>
                <a:tc>
                  <a:txBody>
                    <a:bodyPr/>
                    <a:lstStyle/>
                    <a:p>
                      <a:pPr algn="ctr"/>
                      <a:endParaRPr lang="en-US" sz="900" b="1"/>
                    </a:p>
                  </a:txBody>
                  <a:tcPr anchor="ctr"/>
                </a:tc>
                <a:tc>
                  <a:txBody>
                    <a:bodyPr/>
                    <a:lstStyle/>
                    <a:p>
                      <a:pPr algn="ctr"/>
                      <a:endParaRPr lang="en-US" sz="900" b="1"/>
                    </a:p>
                  </a:txBody>
                  <a:tcPr anchor="ctr"/>
                </a:tc>
                <a:extLst>
                  <a:ext uri="{0D108BD9-81ED-4DB2-BD59-A6C34878D82A}">
                    <a16:rowId xmlns:a16="http://schemas.microsoft.com/office/drawing/2014/main" val="2136889157"/>
                  </a:ext>
                </a:extLst>
              </a:tr>
              <a:tr h="253931">
                <a:tc>
                  <a:txBody>
                    <a:bodyPr/>
                    <a:lstStyle/>
                    <a:p>
                      <a:pPr algn="ctr"/>
                      <a:r>
                        <a:rPr lang="en-US" sz="900" b="1"/>
                        <a:t>5 m</a:t>
                      </a:r>
                    </a:p>
                  </a:txBody>
                  <a:tcPr anchor="ctr"/>
                </a:tc>
                <a:tc>
                  <a:txBody>
                    <a:bodyPr/>
                    <a:lstStyle/>
                    <a:p>
                      <a:pPr algn="ctr"/>
                      <a:endParaRPr lang="en-US" sz="900" b="1"/>
                    </a:p>
                  </a:txBody>
                  <a:tcPr anchor="ctr"/>
                </a:tc>
                <a:tc>
                  <a:txBody>
                    <a:bodyPr/>
                    <a:lstStyle/>
                    <a:p>
                      <a:pPr algn="ctr"/>
                      <a:endParaRPr lang="en-US" sz="900" b="1"/>
                    </a:p>
                  </a:txBody>
                  <a:tcPr anchor="ctr"/>
                </a:tc>
                <a:tc>
                  <a:txBody>
                    <a:bodyPr/>
                    <a:lstStyle/>
                    <a:p>
                      <a:pPr algn="ctr"/>
                      <a:endParaRPr lang="en-US" sz="900" b="1"/>
                    </a:p>
                  </a:txBody>
                  <a:tcPr anchor="ctr"/>
                </a:tc>
                <a:extLst>
                  <a:ext uri="{0D108BD9-81ED-4DB2-BD59-A6C34878D82A}">
                    <a16:rowId xmlns:a16="http://schemas.microsoft.com/office/drawing/2014/main" val="3068543825"/>
                  </a:ext>
                </a:extLst>
              </a:tr>
              <a:tr h="253931">
                <a:tc>
                  <a:txBody>
                    <a:bodyPr/>
                    <a:lstStyle/>
                    <a:p>
                      <a:pPr algn="ctr"/>
                      <a:r>
                        <a:rPr lang="en-US" sz="900" b="1"/>
                        <a:t>200 km</a:t>
                      </a:r>
                    </a:p>
                  </a:txBody>
                  <a:tcPr anchor="ctr"/>
                </a:tc>
                <a:tc>
                  <a:txBody>
                    <a:bodyPr/>
                    <a:lstStyle/>
                    <a:p>
                      <a:pPr algn="ctr"/>
                      <a:endParaRPr lang="en-US" sz="900" b="1"/>
                    </a:p>
                  </a:txBody>
                  <a:tcPr anchor="ctr"/>
                </a:tc>
                <a:tc>
                  <a:txBody>
                    <a:bodyPr/>
                    <a:lstStyle/>
                    <a:p>
                      <a:pPr algn="ctr"/>
                      <a:endParaRPr lang="en-US" sz="900" b="1"/>
                    </a:p>
                  </a:txBody>
                  <a:tcPr anchor="ctr"/>
                </a:tc>
                <a:tc>
                  <a:txBody>
                    <a:bodyPr/>
                    <a:lstStyle/>
                    <a:p>
                      <a:pPr algn="ctr"/>
                      <a:r>
                        <a:rPr lang="en-US" sz="900" b="1"/>
                        <a:t>N/A</a:t>
                      </a:r>
                    </a:p>
                  </a:txBody>
                  <a:tcPr anchor="ctr"/>
                </a:tc>
                <a:extLst>
                  <a:ext uri="{0D108BD9-81ED-4DB2-BD59-A6C34878D82A}">
                    <a16:rowId xmlns:a16="http://schemas.microsoft.com/office/drawing/2014/main" val="3280840452"/>
                  </a:ext>
                </a:extLst>
              </a:tr>
            </a:tbl>
          </a:graphicData>
        </a:graphic>
      </p:graphicFrame>
    </p:spTree>
    <p:extLst>
      <p:ext uri="{BB962C8B-B14F-4D97-AF65-F5344CB8AC3E}">
        <p14:creationId xmlns:p14="http://schemas.microsoft.com/office/powerpoint/2010/main" val="274194693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f92b8aa2-49de-4e54-8010-6e3adc1458e2" xsi:nil="true"/>
    <lcf76f155ced4ddcb4097134ff3c332f xmlns="195863ed-c21e-4baf-b8da-5a5f210bc6a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E104B47FA86644A46CA5C8803E74CD" ma:contentTypeVersion="10" ma:contentTypeDescription="Create a new document." ma:contentTypeScope="" ma:versionID="b4b515151c876bfa84b764da21ab4deb">
  <xsd:schema xmlns:xsd="http://www.w3.org/2001/XMLSchema" xmlns:xs="http://www.w3.org/2001/XMLSchema" xmlns:p="http://schemas.microsoft.com/office/2006/metadata/properties" xmlns:ns2="195863ed-c21e-4baf-b8da-5a5f210bc6a1" xmlns:ns3="f92b8aa2-49de-4e54-8010-6e3adc1458e2" targetNamespace="http://schemas.microsoft.com/office/2006/metadata/properties" ma:root="true" ma:fieldsID="c95e37405ede2ef95173d21ffb7087e4" ns2:_="" ns3:_="">
    <xsd:import namespace="195863ed-c21e-4baf-b8da-5a5f210bc6a1"/>
    <xsd:import namespace="f92b8aa2-49de-4e54-8010-6e3adc1458e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5863ed-c21e-4baf-b8da-5a5f210bc6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92b8aa2-49de-4e54-8010-6e3adc1458e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cda6505-c87d-4d52-a205-a09b0c00f6c2}" ma:internalName="TaxCatchAll" ma:showField="CatchAllData" ma:web="f92b8aa2-49de-4e54-8010-6e3adc1458e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3A049F5-803B-4D82-9DCE-E49B28C59E9A}">
  <ds:schemaRefs>
    <ds:schemaRef ds:uri="http://schemas.microsoft.com/sharepoint/v3/contenttype/forms"/>
  </ds:schemaRefs>
</ds:datastoreItem>
</file>

<file path=customXml/itemProps2.xml><?xml version="1.0" encoding="utf-8"?>
<ds:datastoreItem xmlns:ds="http://schemas.openxmlformats.org/officeDocument/2006/customXml" ds:itemID="{33AC30DB-3466-4DB7-B922-36F62C468150}">
  <ds:schemaRefs>
    <ds:schemaRef ds:uri="723aa48c-73f2-40da-86b1-f1ae286477fe"/>
    <ds:schemaRef ds:uri="7584c457-6b5a-4caa-be47-be979cbe655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A2E6636-3671-41B7-8BD1-614628FAA7E3}"/>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1193</TotalTime>
  <Words>2179</Words>
  <Application>Microsoft Office PowerPoint</Application>
  <PresentationFormat>Letter Paper (8.5x11 in)</PresentationFormat>
  <Paragraphs>367</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Courier New</vt:lpstr>
      <vt:lpstr>Segoe UI</vt:lpstr>
      <vt:lpstr>Wingdings</vt:lpstr>
      <vt:lpstr>Office Theme</vt:lpstr>
      <vt:lpstr>Lab #5</vt:lpstr>
      <vt:lpstr>Intro</vt:lpstr>
      <vt:lpstr>KestrelSAT Overview</vt:lpstr>
      <vt:lpstr>ESP32 Thing Plus Pinout Diagram</vt:lpstr>
      <vt:lpstr>Reference – ArduCam Mega 3MP SPI Camera</vt:lpstr>
      <vt:lpstr>Reference – Serial Peripheral Interface (SPI)</vt:lpstr>
      <vt:lpstr>Reference – ArduCam Mega GUI Tool</vt:lpstr>
      <vt:lpstr>Task 1 – Hardware Setup</vt:lpstr>
      <vt:lpstr>Task 2 – Software Setup</vt:lpstr>
      <vt:lpstr>Task 3 – Prepare Resolution Chart</vt:lpstr>
      <vt:lpstr>Task 4 – Connect to ArduCam</vt:lpstr>
      <vt:lpstr>Task 5 – Collect ArduCam Images</vt:lpstr>
      <vt:lpstr>Task 6 – Examine Resolution at Edges of Image</vt:lpstr>
      <vt:lpstr>Turn-In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Boyer, Jamee M Capt USAF USAFA AW/ESAS</cp:lastModifiedBy>
  <cp:revision>1</cp:revision>
  <cp:lastPrinted>2025-08-01T16:37:26Z</cp:lastPrinted>
  <dcterms:created xsi:type="dcterms:W3CDTF">2025-07-17T17:53:42Z</dcterms:created>
  <dcterms:modified xsi:type="dcterms:W3CDTF">2026-09-09T16:14:07Z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0x01010079E104B47FA86644A46CA5C8803E74CD</vt:lpwstr>
  </property>
  <property fmtid="{D5CDD505-2E9C-101B-9397-08002B2CF9AE}" pid="3" name="MediaServiceImageTags">
    <vt:lpwstr/>
  </property>
</Properties>
</file>