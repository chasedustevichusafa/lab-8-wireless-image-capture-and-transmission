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9"/>
  </p:notesMasterIdLst>
  <p:sldIdLst>
    <p:sldId id="256" r:id="rId5"/>
    <p:sldId id="260" r:id="rId6"/>
    <p:sldId id="258" r:id="rId7"/>
    <p:sldId id="259" r:id="rId8"/>
  </p:sldIdLst>
  <p:sldSz cx="9144000" cy="6858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35DD73-624B-1013-ED33-DC452DFA7A53}" v="109" dt="2026-10-02T20:45:59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ace, Colby R C1C USAF USAFA CW/CS12" userId="S::c27colby.wallace@afacademy.af.edu::45bf612c-4f2d-4481-937f-61083c943bd1" providerId="AD" clId="Web-{00000000-0000-0000-0000-000000000000}"/>
    <pc:docChg chg="modSld">
      <pc:chgData name="Wallace, Colby R C1C USAF USAFA CW/CS12" userId="S::c27colby.wallace@afacademy.af.edu::45bf612c-4f2d-4481-937f-61083c943bd1" providerId="AD" clId="Web-{00000000-0000-0000-0000-000000000000}" dt="2026-09-30T13:26:16.478" v="14" actId="14100"/>
      <pc:docMkLst>
        <pc:docMk/>
      </pc:docMkLst>
      <pc:sldChg chg="modSp">
        <pc:chgData name="Wallace, Colby R C1C USAF USAFA CW/CS12" userId="S::c27colby.wallace@afacademy.af.edu::45bf612c-4f2d-4481-937f-61083c943bd1" providerId="AD" clId="Web-{00000000-0000-0000-0000-000000000000}" dt="2026-09-30T13:26:16.478" v="14" actId="14100"/>
        <pc:sldMkLst>
          <pc:docMk/>
          <pc:sldMk cId="2055568055" sldId="258"/>
        </pc:sldMkLst>
        <pc:spChg chg="mod">
          <ac:chgData name="Wallace, Colby R C1C USAF USAFA CW/CS12" userId="S::c27colby.wallace@afacademy.af.edu::45bf612c-4f2d-4481-937f-61083c943bd1" providerId="AD" clId="Web-{00000000-0000-0000-0000-000000000000}" dt="2026-09-30T13:26:16.478" v="14" actId="14100"/>
          <ac:spMkLst>
            <pc:docMk/>
            <pc:sldMk cId="2055568055" sldId="258"/>
            <ac:spMk id="3" creationId="{617ED563-B760-EA05-505C-FE13B1FF0020}"/>
          </ac:spMkLst>
        </pc:spChg>
      </pc:sldChg>
    </pc:docChg>
  </pc:docChgLst>
  <pc:docChgLst>
    <pc:chgData name="Dustevich, Chase T C1C USAF USAFA CW/CS24" userId="S::c27chase.dustevich@afacademy.af.edu::0615dd0f-a798-49ee-b8c3-e1a38723eab0" providerId="AD" clId="Web-{4563E08C-CEAA-2FD0-DF4E-14B1FD215EEA}"/>
    <pc:docChg chg="modSld">
      <pc:chgData name="Dustevich, Chase T C1C USAF USAFA CW/CS24" userId="S::c27chase.dustevich@afacademy.af.edu::0615dd0f-a798-49ee-b8c3-e1a38723eab0" providerId="AD" clId="Web-{4563E08C-CEAA-2FD0-DF4E-14B1FD215EEA}" dt="2026-09-30T03:21:04.193" v="590" actId="20577"/>
      <pc:docMkLst>
        <pc:docMk/>
      </pc:docMkLst>
      <pc:sldChg chg="modSp">
        <pc:chgData name="Dustevich, Chase T C1C USAF USAFA CW/CS24" userId="S::c27chase.dustevich@afacademy.af.edu::0615dd0f-a798-49ee-b8c3-e1a38723eab0" providerId="AD" clId="Web-{4563E08C-CEAA-2FD0-DF4E-14B1FD215EEA}" dt="2026-09-30T03:11:23.971" v="213" actId="1076"/>
        <pc:sldMkLst>
          <pc:docMk/>
          <pc:sldMk cId="3188062351" sldId="256"/>
        </pc:sldMkLst>
        <pc:spChg chg="mod">
          <ac:chgData name="Dustevich, Chase T C1C USAF USAFA CW/CS24" userId="S::c27chase.dustevich@afacademy.af.edu::0615dd0f-a798-49ee-b8c3-e1a38723eab0" providerId="AD" clId="Web-{4563E08C-CEAA-2FD0-DF4E-14B1FD215EEA}" dt="2026-09-30T03:11:23.971" v="213" actId="1076"/>
          <ac:spMkLst>
            <pc:docMk/>
            <pc:sldMk cId="3188062351" sldId="256"/>
            <ac:spMk id="2" creationId="{1560E2C4-BC94-2EEF-55E0-A1575A57F58F}"/>
          </ac:spMkLst>
        </pc:spChg>
      </pc:sldChg>
      <pc:sldChg chg="modSp">
        <pc:chgData name="Dustevich, Chase T C1C USAF USAFA CW/CS24" userId="S::c27chase.dustevich@afacademy.af.edu::0615dd0f-a798-49ee-b8c3-e1a38723eab0" providerId="AD" clId="Web-{4563E08C-CEAA-2FD0-DF4E-14B1FD215EEA}" dt="2026-09-30T03:20:19.162" v="479" actId="20577"/>
        <pc:sldMkLst>
          <pc:docMk/>
          <pc:sldMk cId="2055568055" sldId="258"/>
        </pc:sldMkLst>
        <pc:spChg chg="mod">
          <ac:chgData name="Dustevich, Chase T C1C USAF USAFA CW/CS24" userId="S::c27chase.dustevich@afacademy.af.edu::0615dd0f-a798-49ee-b8c3-e1a38723eab0" providerId="AD" clId="Web-{4563E08C-CEAA-2FD0-DF4E-14B1FD215EEA}" dt="2026-09-30T03:20:19.162" v="479" actId="20577"/>
          <ac:spMkLst>
            <pc:docMk/>
            <pc:sldMk cId="2055568055" sldId="258"/>
            <ac:spMk id="3" creationId="{617ED563-B760-EA05-505C-FE13B1FF0020}"/>
          </ac:spMkLst>
        </pc:spChg>
      </pc:sldChg>
      <pc:sldChg chg="modSp">
        <pc:chgData name="Dustevich, Chase T C1C USAF USAFA CW/CS24" userId="S::c27chase.dustevich@afacademy.af.edu::0615dd0f-a798-49ee-b8c3-e1a38723eab0" providerId="AD" clId="Web-{4563E08C-CEAA-2FD0-DF4E-14B1FD215EEA}" dt="2026-09-30T03:21:04.193" v="590" actId="20577"/>
        <pc:sldMkLst>
          <pc:docMk/>
          <pc:sldMk cId="560659066" sldId="259"/>
        </pc:sldMkLst>
        <pc:spChg chg="mod">
          <ac:chgData name="Dustevich, Chase T C1C USAF USAFA CW/CS24" userId="S::c27chase.dustevich@afacademy.af.edu::0615dd0f-a798-49ee-b8c3-e1a38723eab0" providerId="AD" clId="Web-{4563E08C-CEAA-2FD0-DF4E-14B1FD215EEA}" dt="2026-09-30T03:21:04.193" v="590" actId="20577"/>
          <ac:spMkLst>
            <pc:docMk/>
            <pc:sldMk cId="560659066" sldId="259"/>
            <ac:spMk id="3" creationId="{D0D29A6B-8DC0-8661-57D1-27AF7ACDA9BC}"/>
          </ac:spMkLst>
        </pc:spChg>
      </pc:sldChg>
    </pc:docChg>
  </pc:docChgLst>
  <pc:docChgLst>
    <pc:chgData name="Wallace, Colby R C1C USAF USAFA CW/CS12" userId="45bf612c-4f2d-4481-937f-61083c943bd1" providerId="ADAL" clId="{9287AFD8-C905-473D-898A-BA41ACF816A8}"/>
    <pc:docChg chg="undo custSel addSld delSld modNotesMaster">
      <pc:chgData name="Wallace, Colby R C1C USAF USAFA CW/CS12" userId="45bf612c-4f2d-4481-937f-61083c943bd1" providerId="ADAL" clId="{9287AFD8-C905-473D-898A-BA41ACF816A8}" dt="2026-09-30T13:53:14.492" v="2" actId="47"/>
      <pc:docMkLst>
        <pc:docMk/>
      </pc:docMkLst>
      <pc:sldChg chg="add del">
        <pc:chgData name="Wallace, Colby R C1C USAF USAFA CW/CS12" userId="45bf612c-4f2d-4481-937f-61083c943bd1" providerId="ADAL" clId="{9287AFD8-C905-473D-898A-BA41ACF816A8}" dt="2026-09-30T13:53:14.492" v="2" actId="47"/>
        <pc:sldMkLst>
          <pc:docMk/>
          <pc:sldMk cId="1728057935" sldId="260"/>
        </pc:sldMkLst>
      </pc:sldChg>
    </pc:docChg>
  </pc:docChgLst>
  <pc:docChgLst>
    <pc:chgData name="Wallace, Colby R C1C USAF USAFA CW/CS12" userId="S::c27colby.wallace@afacademy.af.edu::45bf612c-4f2d-4481-937f-61083c943bd1" providerId="AD" clId="Web-{9635DD73-624B-1013-ED33-DC452DFA7A53}"/>
    <pc:docChg chg="modSld">
      <pc:chgData name="Wallace, Colby R C1C USAF USAFA CW/CS12" userId="S::c27colby.wallace@afacademy.af.edu::45bf612c-4f2d-4481-937f-61083c943bd1" providerId="AD" clId="Web-{9635DD73-624B-1013-ED33-DC452DFA7A53}" dt="2026-10-02T20:45:59.883" v="107" actId="20577"/>
      <pc:docMkLst>
        <pc:docMk/>
      </pc:docMkLst>
      <pc:sldChg chg="modSp">
        <pc:chgData name="Wallace, Colby R C1C USAF USAFA CW/CS12" userId="S::c27colby.wallace@afacademy.af.edu::45bf612c-4f2d-4481-937f-61083c943bd1" providerId="AD" clId="Web-{9635DD73-624B-1013-ED33-DC452DFA7A53}" dt="2026-10-02T20:45:59.883" v="107" actId="20577"/>
        <pc:sldMkLst>
          <pc:docMk/>
          <pc:sldMk cId="560659066" sldId="259"/>
        </pc:sldMkLst>
        <pc:spChg chg="mod">
          <ac:chgData name="Wallace, Colby R C1C USAF USAFA CW/CS12" userId="S::c27colby.wallace@afacademy.af.edu::45bf612c-4f2d-4481-937f-61083c943bd1" providerId="AD" clId="Web-{9635DD73-624B-1013-ED33-DC452DFA7A53}" dt="2026-10-02T20:45:59.883" v="107" actId="20577"/>
          <ac:spMkLst>
            <pc:docMk/>
            <pc:sldMk cId="560659066" sldId="259"/>
            <ac:spMk id="3" creationId="{D0D29A6B-8DC0-8661-57D1-27AF7ACDA9B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15" tIns="46658" rIns="93315" bIns="4665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15" tIns="46658" rIns="93315" bIns="46658" rtlCol="0"/>
          <a:lstStyle>
            <a:lvl1pPr algn="r">
              <a:defRPr sz="1200"/>
            </a:lvl1pPr>
          </a:lstStyle>
          <a:p>
            <a:fld id="{94D2EC29-5E9A-49E8-BC12-73FDF6305747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7638" y="1163638"/>
            <a:ext cx="4187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15" tIns="46658" rIns="93315" bIns="4665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15" tIns="46658" rIns="93315" bIns="4665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15" tIns="46658" rIns="93315" bIns="4665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15" tIns="46658" rIns="93315" bIns="46658" rtlCol="0" anchor="b"/>
          <a:lstStyle>
            <a:lvl1pPr algn="r">
              <a:defRPr sz="1200"/>
            </a:lvl1pPr>
          </a:lstStyle>
          <a:p>
            <a:fld id="{9EB4C982-825B-414E-ABB9-79AB25139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1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8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5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31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9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7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4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63" algn="l" defTabSz="91431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https://www.youtube.com/watch?v=jVXgWGK9Kr8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4C982-825B-414E-ABB9-79AB25139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204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7505" y="1287560"/>
            <a:ext cx="678899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781865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E600E-A67F-4D2A-8A36-552C1EFBE963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F1DE720-C36A-2EFC-0954-335249276F1A}"/>
              </a:ext>
            </a:extLst>
          </p:cNvPr>
          <p:cNvSpPr txBox="1">
            <a:spLocks/>
          </p:cNvSpPr>
          <p:nvPr userDrawn="1"/>
        </p:nvSpPr>
        <p:spPr>
          <a:xfrm>
            <a:off x="1028701" y="111639"/>
            <a:ext cx="7226780" cy="696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sz="3600"/>
              <a:t>USAFA ASTRO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FD864A1-DC7B-C6C8-87CB-D0D681030469}"/>
              </a:ext>
            </a:extLst>
          </p:cNvPr>
          <p:cNvSpPr txBox="1">
            <a:spLocks/>
          </p:cNvSpPr>
          <p:nvPr userDrawn="1"/>
        </p:nvSpPr>
        <p:spPr>
          <a:xfrm>
            <a:off x="1143000" y="6288282"/>
            <a:ext cx="6858000" cy="5012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i="1"/>
              <a:t>ASTRO 331 – Space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6526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D194C-E731-4CF3-8F14-16F2CEB9B5CF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00626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ctr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C6FCA-E440-4A17-8C6B-54B65BC400EF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9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EF287-72CA-49D4-A601-3B9D2E83EA05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6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B2832-1105-4FA1-AD49-3D1761459FB9}" type="datetime1">
              <a:rPr lang="en-US" smtClean="0"/>
              <a:t>10/2/2026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7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8DF9A-2345-4D36-85FA-49730D271487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501692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Astro 331 Lab #1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B4DED-4E37-473F-AD62-970655F2D578}" type="datetime1">
              <a:rPr lang="en-US" smtClean="0"/>
              <a:t>10/2/2026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56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4D36-2BA6-4632-B283-5D3E851C5410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6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CD72-2059-40BB-BF30-AF971560729B}" type="datetime1">
              <a:rPr lang="en-US" smtClean="0"/>
              <a:t>10/2/2026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3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F733-755F-4A68-A044-3BB7487EA333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81D12-59AE-465C-A617-7D2534E388B9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29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966" y="133186"/>
            <a:ext cx="7886700" cy="6521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0025" y="1002506"/>
            <a:ext cx="8793015" cy="52275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291" y="646510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D194C-E731-4CF3-8F14-16F2CEB9B5CF}" type="datetime1">
              <a:rPr lang="en-US" smtClean="0"/>
              <a:t>10/2/2026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40236" y="646510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029B7-FE6B-4680-9049-80E8298A08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918AF-A31D-A49D-520C-D6A347912BFA}"/>
              </a:ext>
            </a:extLst>
          </p:cNvPr>
          <p:cNvSpPr txBox="1"/>
          <p:nvPr userDrawn="1"/>
        </p:nvSpPr>
        <p:spPr>
          <a:xfrm>
            <a:off x="8115301" y="72097"/>
            <a:ext cx="970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>
                <a:latin typeface="Segoe UI" panose="020B0502040204020203" pitchFamily="34" charset="0"/>
                <a:cs typeface="Segoe UI" panose="020B0502040204020203" pitchFamily="34" charset="0"/>
              </a:rPr>
              <a:t>2026 Fall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CFB5F7-9C45-8CB0-F5C4-6BF493EF4BCD}"/>
              </a:ext>
            </a:extLst>
          </p:cNvPr>
          <p:cNvSpPr/>
          <p:nvPr userDrawn="1"/>
        </p:nvSpPr>
        <p:spPr>
          <a:xfrm>
            <a:off x="46364" y="855395"/>
            <a:ext cx="9039409" cy="596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49DA28-CF7C-1CE3-C307-FC252DA9EB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365" y="18574"/>
            <a:ext cx="734686" cy="82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1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0E2C4-BC94-2EEF-55E0-A1575A57F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318" y="1287560"/>
            <a:ext cx="7605810" cy="2387600"/>
          </a:xfrm>
        </p:spPr>
        <p:txBody>
          <a:bodyPr>
            <a:normAutofit/>
          </a:bodyPr>
          <a:lstStyle/>
          <a:p>
            <a:r>
              <a:rPr lang="en-US" sz="4800" b="1">
                <a:latin typeface="Segoe UI"/>
                <a:cs typeface="Segoe UI"/>
              </a:rPr>
              <a:t>Lab 8</a:t>
            </a:r>
            <a:r>
              <a:rPr lang="en-US" sz="4800">
                <a:latin typeface="Segoe UI"/>
                <a:cs typeface="Segoe UI"/>
              </a:rPr>
              <a:t>:</a:t>
            </a:r>
            <a:r>
              <a:rPr lang="en-US" sz="4800" b="1">
                <a:latin typeface="Segoe UI"/>
                <a:cs typeface="Segoe UI"/>
              </a:rPr>
              <a:t> Wireless Image </a:t>
            </a:r>
            <a:r>
              <a:rPr lang="en-US" sz="4800">
                <a:latin typeface="Segoe UI"/>
                <a:cs typeface="Segoe UI"/>
              </a:rPr>
              <a:t>Capture and </a:t>
            </a:r>
            <a:r>
              <a:rPr lang="en-US" sz="4800" b="1">
                <a:latin typeface="Segoe UI"/>
                <a:cs typeface="Segoe UI"/>
              </a:rPr>
              <a:t>Transmission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63E707-3906-1580-6A39-D3696F1203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429000"/>
            <a:ext cx="6858000" cy="2316891"/>
          </a:xfrm>
        </p:spPr>
        <p:txBody>
          <a:bodyPr>
            <a:normAutofit/>
          </a:bodyPr>
          <a:lstStyle/>
          <a:p>
            <a:r>
              <a:rPr lang="en-US" sz="3600" b="1"/>
              <a:t>C&amp;C Industries</a:t>
            </a:r>
          </a:p>
          <a:p>
            <a:endParaRPr lang="en-US" b="1"/>
          </a:p>
          <a:p>
            <a:r>
              <a:rPr lang="en-US" b="1"/>
              <a:t>C1C Chase Dustevich</a:t>
            </a:r>
          </a:p>
          <a:p>
            <a:r>
              <a:rPr lang="en-US" b="1"/>
              <a:t>C1C Colby Wallace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188062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8168-F8FA-6465-B372-F7B392A6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&lt;General Guidance&gt;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A66CF-6F98-8A92-FCD2-0CB93E936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&lt; The final presentation should include at a minimum:</a:t>
            </a:r>
          </a:p>
          <a:p>
            <a:pPr lvl="1"/>
            <a:r>
              <a:rPr lang="en-US"/>
              <a:t>Overview</a:t>
            </a:r>
          </a:p>
          <a:p>
            <a:pPr lvl="1"/>
            <a:r>
              <a:rPr lang="en-US"/>
              <a:t>Objectives</a:t>
            </a:r>
          </a:p>
          <a:p>
            <a:pPr lvl="1"/>
            <a:r>
              <a:rPr lang="en-US"/>
              <a:t>Background</a:t>
            </a:r>
          </a:p>
          <a:p>
            <a:pPr lvl="1"/>
            <a:r>
              <a:rPr lang="en-US"/>
              <a:t>Assumptions</a:t>
            </a:r>
          </a:p>
          <a:p>
            <a:pPr lvl="1"/>
            <a:r>
              <a:rPr lang="en-US"/>
              <a:t>Math Technique/Theoretical Predications </a:t>
            </a:r>
          </a:p>
          <a:p>
            <a:pPr lvl="1"/>
            <a:r>
              <a:rPr lang="en-US"/>
              <a:t>Experimental Setup and Approach</a:t>
            </a:r>
          </a:p>
          <a:p>
            <a:pPr lvl="1"/>
            <a:r>
              <a:rPr lang="en-US"/>
              <a:t>Experimental Results/Data </a:t>
            </a:r>
          </a:p>
          <a:p>
            <a:pPr lvl="1"/>
            <a:r>
              <a:rPr lang="en-US"/>
              <a:t>Discussion/analysis</a:t>
            </a:r>
          </a:p>
          <a:p>
            <a:pPr lvl="1"/>
            <a:r>
              <a:rPr lang="en-US"/>
              <a:t>Recommendations</a:t>
            </a:r>
          </a:p>
          <a:p>
            <a:pPr lvl="1"/>
            <a:r>
              <a:rPr lang="en-US"/>
              <a:t>Conclusion</a:t>
            </a:r>
          </a:p>
          <a:p>
            <a:pPr lvl="1"/>
            <a:r>
              <a:rPr lang="en-US"/>
              <a:t>Documentation </a:t>
            </a:r>
            <a:r>
              <a:rPr lang="en-US" b="1"/>
              <a:t>(include robust description of how/what GenAI was used)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Tell a story! </a:t>
            </a:r>
          </a:p>
          <a:p>
            <a:pPr marL="0" indent="0">
              <a:buNone/>
            </a:pPr>
            <a:r>
              <a:rPr lang="en-US">
                <a:sym typeface="Wingdings" panose="05000000000000000000" pitchFamily="2" charset="2"/>
              </a:rPr>
              <a:t> </a:t>
            </a:r>
          </a:p>
          <a:p>
            <a:pPr marL="0" indent="0">
              <a:buNone/>
            </a:pPr>
            <a:r>
              <a:rPr lang="en-US" b="1">
                <a:sym typeface="Wingdings" panose="05000000000000000000" pitchFamily="2" charset="2"/>
              </a:rPr>
              <a:t>Every slide should include at least one relevant picture/video/plot/diagram/etc. </a:t>
            </a:r>
            <a:r>
              <a:rPr lang="en-US">
                <a:sym typeface="Wingdings" panose="05000000000000000000" pitchFamily="2" charset="2"/>
              </a:rPr>
              <a:t>&gt;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3950F-BA8E-3674-90B3-7630FB53B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057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0E469-9CF3-B4DB-F654-3115B0E8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D563-B760-EA05-505C-FE13B1FF0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05" y="1002506"/>
            <a:ext cx="8219076" cy="572230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>
              <a:buNone/>
            </a:pPr>
            <a:r>
              <a:rPr lang="en-US" sz="2400">
                <a:latin typeface="Segoe UI"/>
                <a:cs typeface="Segoe UI"/>
              </a:rPr>
              <a:t>Topic Proposal:</a:t>
            </a:r>
            <a:endParaRPr lang="en-US" sz="2400"/>
          </a:p>
          <a:p>
            <a:pPr marL="0">
              <a:buNone/>
            </a:pPr>
            <a:r>
              <a:rPr lang="en-US" sz="2400">
                <a:latin typeface="Segoe UI"/>
                <a:cs typeface="Segoe UI"/>
              </a:rPr>
              <a:t>The objective of this proposal is to outline goals involved for our Lab 8 Proposal. Our proposal is to combine the Communication Subsystem and the (Remote) Sensing Subsystem to allow for remote image and file transmission from the KestralSAT to a Ground Station over the </a:t>
            </a:r>
            <a:r>
              <a:rPr lang="en-US" sz="2400" err="1">
                <a:latin typeface="Segoe UI"/>
                <a:cs typeface="Segoe UI"/>
              </a:rPr>
              <a:t>XBee</a:t>
            </a:r>
            <a:r>
              <a:rPr lang="en-US" sz="2400">
                <a:latin typeface="Segoe UI"/>
                <a:cs typeface="Segoe UI"/>
              </a:rPr>
              <a:t> connection. This proposal builds on the Communication Lab by sending files (instead of text/commands) over XBee and the Remote Sensing Lab by commanding image capture remotely (as opposed to over a physical cable). Through these improvements, advancement will be made in both communication abilities and remote sensing utility.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287FC-B6FD-285B-CDA7-6FFEB7EE2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6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65417-41A0-040E-8449-97C52935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29A6B-8DC0-8661-57D1-27AF7ACDA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025" y="1002506"/>
            <a:ext cx="9048361" cy="56495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egoe UI"/>
                <a:cs typeface="Segoe UI"/>
              </a:rPr>
              <a:t>Goals: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 dirty="0">
                <a:latin typeface="Segoe UI"/>
                <a:cs typeface="Segoe UI"/>
              </a:rPr>
              <a:t>The system shall remotely capture images over the </a:t>
            </a:r>
            <a:r>
              <a:rPr lang="en-US" sz="2400" dirty="0" err="1">
                <a:latin typeface="Segoe UI"/>
                <a:cs typeface="Segoe UI"/>
              </a:rPr>
              <a:t>XBee</a:t>
            </a:r>
            <a:r>
              <a:rPr lang="en-US" sz="2400" dirty="0">
                <a:latin typeface="Segoe UI"/>
                <a:cs typeface="Segoe UI"/>
              </a:rPr>
              <a:t> connection and save them to the SD card. The goal range is 2 kilometers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 dirty="0">
                <a:latin typeface="Segoe UI"/>
                <a:cs typeface="Segoe UI"/>
              </a:rPr>
              <a:t>The system shall transmit a live preview of the image of the </a:t>
            </a:r>
            <a:r>
              <a:rPr lang="en-US" sz="2400" dirty="0" err="1">
                <a:latin typeface="Segoe UI"/>
                <a:cs typeface="Segoe UI"/>
              </a:rPr>
              <a:t>XBee</a:t>
            </a:r>
            <a:r>
              <a:rPr lang="en-US" sz="2400" dirty="0">
                <a:latin typeface="Segoe UI"/>
                <a:cs typeface="Segoe UI"/>
              </a:rPr>
              <a:t> connection with a resolution of 720p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 dirty="0">
                <a:latin typeface="Segoe UI"/>
                <a:cs typeface="Segoe UI"/>
              </a:rPr>
              <a:t>The </a:t>
            </a:r>
            <a:r>
              <a:rPr lang="en-US" sz="2400" dirty="0" err="1">
                <a:latin typeface="Segoe UI"/>
                <a:cs typeface="Segoe UI"/>
              </a:rPr>
              <a:t>KestralSAT</a:t>
            </a:r>
            <a:r>
              <a:rPr lang="en-US" sz="2400" dirty="0">
                <a:latin typeface="Segoe UI"/>
                <a:cs typeface="Segoe UI"/>
              </a:rPr>
              <a:t> GUI shall maintain an RSSI of greater than –140 dB for distances under 100m regardless of obstruction</a:t>
            </a:r>
          </a:p>
          <a:p>
            <a:pPr marL="514350" indent="-514350">
              <a:buAutoNum type="arabicPeriod"/>
            </a:pPr>
            <a:endParaRPr lang="en-US" sz="2400" dirty="0">
              <a:latin typeface="Segoe UI"/>
              <a:cs typeface="Segoe UI"/>
            </a:endParaRPr>
          </a:p>
          <a:p>
            <a:pPr marL="0" indent="0">
              <a:buNone/>
            </a:pPr>
            <a:r>
              <a:rPr lang="en-US" sz="2400" dirty="0">
                <a:latin typeface="Segoe UI"/>
                <a:cs typeface="Segoe UI"/>
              </a:rPr>
              <a:t>Stretch Goal: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Segoe UI"/>
                <a:cs typeface="Segoe UI"/>
              </a:rPr>
              <a:t>The system shall allow remote file management and transfer over the </a:t>
            </a:r>
            <a:r>
              <a:rPr lang="en-US" sz="2400" dirty="0" err="1">
                <a:latin typeface="Segoe UI"/>
                <a:cs typeface="Segoe UI"/>
              </a:rPr>
              <a:t>XBee</a:t>
            </a:r>
            <a:r>
              <a:rPr lang="en-US" sz="2400" dirty="0">
                <a:latin typeface="Segoe UI"/>
                <a:cs typeface="Segoe UI"/>
              </a:rPr>
              <a:t> connection with a delay less than .5 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2803F-9417-99CE-1FF1-A53505959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029B7-FE6B-4680-9049-80E8298A0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59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92b8aa2-49de-4e54-8010-6e3adc1458e2" xsi:nil="true"/>
    <lcf76f155ced4ddcb4097134ff3c332f xmlns="195863ed-c21e-4baf-b8da-5a5f210bc6a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E104B47FA86644A46CA5C8803E74CD" ma:contentTypeVersion="10" ma:contentTypeDescription="Create a new document." ma:contentTypeScope="" ma:versionID="b4b515151c876bfa84b764da21ab4deb">
  <xsd:schema xmlns:xsd="http://www.w3.org/2001/XMLSchema" xmlns:xs="http://www.w3.org/2001/XMLSchema" xmlns:p="http://schemas.microsoft.com/office/2006/metadata/properties" xmlns:ns2="195863ed-c21e-4baf-b8da-5a5f210bc6a1" xmlns:ns3="f92b8aa2-49de-4e54-8010-6e3adc1458e2" targetNamespace="http://schemas.microsoft.com/office/2006/metadata/properties" ma:root="true" ma:fieldsID="c95e37405ede2ef95173d21ffb7087e4" ns2:_="" ns3:_="">
    <xsd:import namespace="195863ed-c21e-4baf-b8da-5a5f210bc6a1"/>
    <xsd:import namespace="f92b8aa2-49de-4e54-8010-6e3adc1458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5863ed-c21e-4baf-b8da-5a5f210bc6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2b8aa2-49de-4e54-8010-6e3adc1458e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cda6505-c87d-4d52-a205-a09b0c00f6c2}" ma:internalName="TaxCatchAll" ma:showField="CatchAllData" ma:web="f92b8aa2-49de-4e54-8010-6e3adc1458e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96DB7C-76B3-472D-8F6F-C8E69FE568F8}">
  <ds:schemaRefs>
    <ds:schemaRef ds:uri="195863ed-c21e-4baf-b8da-5a5f210bc6a1"/>
    <ds:schemaRef ds:uri="f92b8aa2-49de-4e54-8010-6e3adc1458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C286B8C-FFD3-47CE-9E8F-4104A49DEB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58A5E4-4F67-49AA-96DC-8DCEAB667B08}">
  <ds:schemaRefs>
    <ds:schemaRef ds:uri="195863ed-c21e-4baf-b8da-5a5f210bc6a1"/>
    <ds:schemaRef ds:uri="f92b8aa2-49de-4e54-8010-6e3adc1458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Letter Paper (8.5x11 in)</PresentationFormat>
  <Slides>4</Slides>
  <Notes>1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Lab 8: Wireless Image Capture and Transmission</vt:lpstr>
      <vt:lpstr>&lt;General Guidance&gt;</vt:lpstr>
      <vt:lpstr>Overview</vt:lpstr>
      <vt:lpstr>Requirements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Harris, Wyatt J Lt Col USAF USAFA DF/DFAS</dc:creator>
  <cp:revision>31</cp:revision>
  <cp:lastPrinted>2026-09-30T13:52:31Z</cp:lastPrinted>
  <dcterms:created xsi:type="dcterms:W3CDTF">2025-07-17T17:53:42Z</dcterms:created>
  <dcterms:modified xsi:type="dcterms:W3CDTF">2026-10-02T20:46:01Z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0x01010079E104B47FA86644A46CA5C8803E74CD</vt:lpwstr>
  </property>
  <property fmtid="{D5CDD505-2E9C-101B-9397-08002B2CF9AE}" pid="3" name="MediaServiceImageTags">
    <vt:lpwstr/>
  </property>
</Properties>
</file>